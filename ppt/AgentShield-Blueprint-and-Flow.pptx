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4"/>
    <p:sldId id="259" r:id="rId1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4"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b="1"/>
              <a:t>Opening</a:t>
            </a:r>
            <a:endParaRPr lang="en-US" b="1" dirty="0"/>
          </a:p>
          <a:p>
            <a:pPr marL="0" indent="0">
              <a:buNone/>
            </a:pPr>
            <a:r>
              <a:rPr lang="en-US" dirty="0"/>
              <a:t>This slide shows the full architecture in one view. Five industry frameworks at the top — these aren't just for reporting badge purposes. Every rule, every check, and every attack class in AgentShield maps back to at least one of these five frameworks. When a finding lands in the report, it tells you which OWASP category, which CWE, which MITRE ATLAS technique it belongs to. That's what makes it useful in a governance conversation, not just a security one.</a:t>
            </a:r>
            <a:endParaRPr lang="en-US" dirty="0"/>
          </a:p>
          <a:p>
            <a:pPr marL="0" indent="0">
              <a:buNone/>
            </a:pPr>
            <a:endParaRPr lang="en-US" dirty="0"/>
          </a:p>
          <a:p>
            <a:pPr marL="0" indent="0">
              <a:buNone/>
            </a:pPr>
            <a:r>
              <a:rPr lang="en-US" dirty="0" b="1"/>
              <a:t>Part 1 — Your AI agent</a:t>
            </a:r>
            <a:endParaRPr lang="en-US" b="1" dirty="0"/>
          </a:p>
          <a:p>
            <a:pPr marL="0" indent="0">
              <a:buNone/>
            </a:pPr>
            <a:r>
              <a:rPr lang="en-US" dirty="0"/>
              <a:t>The target is whatever AI agent the team is building — source code, skill manifests, bundled configs. AgentShield reads it statically. No running instance, no credentials, no API calls to the model provider. This means it fits naturally into a pre-production gate or a CI pipeline.</a:t>
            </a:r>
            <a:endParaRPr lang="en-US" dirty="0"/>
          </a:p>
          <a:p>
            <a:pPr marL="0" indent="0">
              <a:buNone/>
            </a:pPr>
            <a:endParaRPr lang="en-US" dirty="0"/>
          </a:p>
          <a:p>
            <a:pPr marL="0" indent="0">
              <a:buNone/>
            </a:pPr>
            <a:r>
              <a:rPr lang="en-US" dirty="0" b="1"/>
              <a:t>Part 2 — Static scan, three layers</a:t>
            </a:r>
            <a:endParaRPr lang="en-US" b="1" dirty="0"/>
          </a:p>
          <a:p>
            <a:pPr marL="0" indent="0">
              <a:buNone/>
            </a:pPr>
            <a:r>
              <a:rPr lang="en-US" dirty="0"/>
              <a:t>The static scan runs three layers in sequence.</a:t>
            </a:r>
            <a:endParaRPr lang="en-US" dirty="0"/>
          </a:p>
          <a:p>
            <a:pPr marL="0" indent="0">
              <a:buNone/>
            </a:pPr>
            <a:r>
              <a:rPr lang="en-US" dirty="0"/>
              <a:t>First, Semgrep — 19 rules across Python and Java covering the highest-confidence patterns: unsanitised input flowing into an LLM call, LLM output flowing into a code execution sink, hardcoded credentials, missing timeouts. These are deterministic — same code, same result, every time.</a:t>
            </a:r>
            <a:endParaRPr lang="en-US" dirty="0"/>
          </a:p>
          <a:p>
            <a:pPr marL="0" indent="0">
              <a:buNone/>
            </a:pPr>
            <a:r>
              <a:rPr lang="en-US" dirty="0"/>
              <a:t>Second, the manifest scanner — 8 rules against SKILL.md, AGENT.md, and any config files, covering AST01 and AST03 through AST08 plus AST10. This is where we catch skill-level misconfigurations: excessive network permissions, missing tool-argument schemas, overly broad capability declarations. Things Semgrep can't see because they live in structured metadata, not code.</a:t>
            </a:r>
            <a:endParaRPr lang="en-US" dirty="0"/>
          </a:p>
          <a:p>
            <a:pPr marL="0" indent="0">
              <a:buNone/>
            </a:pPr>
            <a:r>
              <a:rPr lang="en-US" dirty="0"/>
              <a:t>Third, Copilot LLM-as-judge — 68 checks that require reading full file context to make a judgment. Is this system prompt injection-resistant? Does this tool have write access it shouldn't? Does the output path have a scrubber? Copilot runs these in your IDE and writes findings to a JSON file the merger picks up.</a:t>
            </a:r>
            <a:endParaRPr lang="en-US" dirty="0"/>
          </a:p>
          <a:p>
            <a:pPr marL="0" indent="0">
              <a:buNone/>
            </a:pPr>
            <a:endParaRPr lang="en-US" dirty="0"/>
          </a:p>
          <a:p>
            <a:pPr marL="0" indent="0">
              <a:buNone/>
            </a:pPr>
            <a:r>
              <a:rPr lang="en-US" dirty="0" b="1"/>
              <a:t>Part 3 — Behaviour emulation</a:t>
            </a:r>
            <a:endParaRPr lang="en-US" b="1" dirty="0"/>
          </a:p>
          <a:p>
            <a:pPr marL="0" indent="0">
              <a:buNone/>
            </a:pPr>
            <a:r>
              <a:rPr lang="en-US" dirty="0"/>
              <a:t>The emulator addresses the gap that static scanning leaves: even if you know a vulnerability exists in the code, you don't know whether an attacker can actually exploit it end-to-end through the agent's runtime pipeline.</a:t>
            </a:r>
            <a:endParaRPr lang="en-US" dirty="0"/>
          </a:p>
          <a:p>
            <a:pPr marL="0" indent="0">
              <a:buNone/>
            </a:pPr>
            <a:r>
              <a:rPr lang="en-US" dirty="0"/>
              <a:t>We've moved away from a fixed list of attack classes. Instead, we use a source × transition model. There are six types of untrusted input an agent can receive — user messages, external RAG documents, tool responses, peer agent messages, batch records, and memory recalls. Each of those sources has up to four pipeline transitions it can exploit — flowing into the LLM, into tool arguments, into an output sink, or into persistent storage. We map every applicable combination and test each one independently, per entry point.</a:t>
            </a:r>
            <a:endParaRPr lang="en-US" dirty="0"/>
          </a:p>
          <a:p>
            <a:pPr marL="0" indent="0">
              <a:buNone/>
            </a:pPr>
            <a:r>
              <a:rPr lang="en-US" dirty="0"/>
              <a:t>The seed → mutation escalation is still the core mechanism. We start with three generic catalogue payloads — we deliberately don't adapt them from the source code, because the intelligence we're after is what the agent reveals under attack. If all three seeds are blocked, we generate up to five adaptive mutations, each one targeting the specific defence that stopped the previous attempt. The moment one advances, we stop and record the verdict.</a:t>
            </a:r>
            <a:endParaRPr lang="en-US" dirty="0"/>
          </a:p>
          <a:p>
            <a:pPr marL="0" indent="0">
              <a:buNone/>
            </a:pPr>
            <a:endParaRPr lang="en-US" dirty="0"/>
          </a:p>
          <a:p>
            <a:pPr marL="0" indent="0">
              <a:buNone/>
            </a:pPr>
            <a:r>
              <a:rPr lang="en-US" dirty="0" b="1"/>
              <a:t>Part 4 — One report</a:t>
            </a:r>
            <a:endParaRPr lang="en-US" b="1" dirty="0"/>
          </a:p>
          <a:p>
            <a:pPr marL="0" indent="0">
              <a:buNone/>
            </a:pPr>
            <a:r>
              <a:rPr lang="en-US" dirty="0"/>
              <a:t>Everything merges into a single HTML report. Four outputs: the interactive HTML with tabs and filters, a print-friendly stacked version, a fix file you can paste directly into Claude Code to remediate all findings in one session, and an emulator payloads file with the full LLM pipeline-walk predictions per source and transition.</a:t>
            </a:r>
            <a:endParaRPr lang="en-US" dirty="0"/>
          </a:p>
          <a:p>
            <a:pPr marL="0" indent="0">
              <a:buNone/>
            </a:pPr>
            <a:r>
              <a:rPr lang="en-US" dirty="0"/>
              <a:t>The key design principle here: every finding in the report is actionable. It has a file, a line number, a severity, a framework tag, and a remediation step. The fix file is ordered by severity so the team knows exactly where to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AgentShield runs in four sequential steps — you can't skip ahead because each step feeds the next.</a:t>
            </a:r>
            <a:endParaRPr lang="en-US" dirty="0"/>
          </a:p>
          <a:p>
            <a:pPr marL="0" indent="0">
              <a:buNone/>
            </a:pPr>
            <a:endParaRPr lang="en-US" dirty="0"/>
          </a:p>
          <a:p>
            <a:pPr marL="0" indent="0">
              <a:buNone/>
            </a:pPr>
            <a:r>
              <a:rPr lang="en-US" dirty="0" b="1"/>
              <a:t>Step 1 — Tier 1</a:t>
            </a:r>
            <a:endParaRPr lang="en-US" b="1" dirty="0"/>
          </a:p>
          <a:p>
            <a:pPr marL="0" indent="0">
              <a:buNone/>
            </a:pPr>
            <a:r>
              <a:rPr lang="en-US" dirty="0"/>
              <a:t>You run agentshield scan from the command line. Semgrep and the manifest scanner analyse your Python, Java, and skill manifest files in seconds and write a JSON artifact to the .agentshield/ folder inside your repo.</a:t>
            </a:r>
            <a:endParaRPr lang="en-US" dirty="0"/>
          </a:p>
          <a:p>
            <a:pPr marL="0" indent="0">
              <a:buNone/>
            </a:pPr>
            <a:endParaRPr lang="en-US" dirty="0"/>
          </a:p>
          <a:p>
            <a:pPr marL="0" indent="0">
              <a:buNone/>
            </a:pPr>
            <a:r>
              <a:rPr lang="en-US" dirty="0" b="1"/>
              <a:t>Step 2 — Tier 2</a:t>
            </a:r>
            <a:endParaRPr lang="en-US" b="1" dirty="0"/>
          </a:p>
          <a:p>
            <a:pPr marL="0" indent="0">
              <a:buNone/>
            </a:pPr>
            <a:r>
              <a:rPr lang="en-US" dirty="0"/>
              <a:t>You open the repo in VS Code, paste a prompt into Copilot Chat, and Copilot reads both your source code and the Tier 1 artifact. It runs 68 checks that require understanding intent, not just pattern matching, and it classifies the agent under the JPMC SAIGE governance framework. That result goes into a second JSON file.</a:t>
            </a:r>
            <a:endParaRPr lang="en-US" dirty="0"/>
          </a:p>
          <a:p>
            <a:pPr marL="0" indent="0">
              <a:buNone/>
            </a:pPr>
            <a:endParaRPr lang="en-US" dirty="0"/>
          </a:p>
          <a:p>
            <a:pPr marL="0" indent="0">
              <a:buNone/>
            </a:pPr>
            <a:r>
              <a:rPr lang="en-US" dirty="0" b="1"/>
              <a:t>Step 3 — Phase 2</a:t>
            </a:r>
            <a:endParaRPr lang="en-US" b="1" dirty="0"/>
          </a:p>
          <a:p>
            <a:pPr marL="0" indent="0">
              <a:buNone/>
            </a:pPr>
            <a:r>
              <a:rPr lang="en-US" dirty="0"/>
              <a:t>Still in the same VS Code window, you paste a second prompt. Copilot now emulates attacker behaviour — it walks every entry point's pipeline, tests each untrusted source type against each applicable transition, and runs seed payloads followed by adaptive mutations. The results go into a third JSON file.</a:t>
            </a:r>
            <a:endParaRPr lang="en-US" dirty="0"/>
          </a:p>
          <a:p>
            <a:pPr marL="0" indent="0">
              <a:buNone/>
            </a:pPr>
            <a:endParaRPr lang="en-US" dirty="0"/>
          </a:p>
          <a:p>
            <a:pPr marL="0" indent="0">
              <a:buNone/>
            </a:pPr>
            <a:r>
              <a:rPr lang="en-US" dirty="0" b="1"/>
              <a:t>Step 4 — Merge</a:t>
            </a:r>
            <a:endParaRPr lang="en-US" b="1" dirty="0"/>
          </a:p>
          <a:p>
            <a:pPr marL="0" indent="0">
              <a:buNone/>
            </a:pPr>
            <a:r>
              <a:rPr lang="en-US" dirty="0"/>
              <a:t>One CLI command reads all three artifacts and produces the unified HTML report, the fix file, and the emulator payloads walkthrough.</a:t>
            </a:r>
            <a:endParaRPr lang="en-US" dirty="0"/>
          </a:p>
          <a:p>
            <a:pPr marL="0" indent="0">
              <a:buNone/>
            </a:pPr>
            <a:endParaRPr lang="en-US" dirty="0"/>
          </a:p>
          <a:p>
            <a:pPr marL="0" indent="0">
              <a:buNone/>
            </a:pPr>
            <a:r>
              <a:rPr lang="en-US" dirty="0" b="1"/>
              <a:t>Why sequential, not parallel</a:t>
            </a:r>
            <a:endParaRPr lang="en-US" b="1" dirty="0"/>
          </a:p>
          <a:p>
            <a:pPr marL="0" indent="0">
              <a:buNone/>
            </a:pPr>
            <a:r>
              <a:rPr lang="en-US" dirty="0"/>
              <a:t>Tier 2 and Phase 2 both benefit from reading the Tier 1 output — Tier 2 uses it for the FP callout section, and Phase 2 uses it to know which controls are already flagged. Running them out of order would produce an incomplete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11247120" cy="411480"/>
          </a:xfrm>
          <a:prstGeom prst="rect">
            <a:avLst/>
          </a:prstGeom>
          <a:noFill/>
          <a:ln/>
        </p:spPr>
        <p:txBody>
          <a:bodyPr wrap="square" lIns="0" tIns="0" rIns="0" bIns="0" rtlCol="0" anchor="ctr"/>
          <a:lstStyle/>
          <a:p>
            <a:pPr algn="l" indent="0" marL="0">
              <a:buNone/>
            </a:pPr>
            <a:r>
              <a:rPr lang="en-US" sz="2400" b="1" dirty="0">
                <a:solidFill>
                  <a:srgbClr val="000000"/>
                </a:solidFill>
                <a:latin typeface="Calibri" pitchFamily="34" charset="0"/>
                <a:ea typeface="Calibri" pitchFamily="34" charset="-122"/>
                <a:cs typeface="Calibri" pitchFamily="34" charset="-120"/>
              </a:rPr>
              <a:t>AgentShield — Solution Blueprint</a:t>
            </a:r>
            <a:endParaRPr lang="en-US" sz="2400" dirty="0"/>
          </a:p>
        </p:txBody>
      </p:sp>
      <p:sp>
        <p:nvSpPr>
          <p:cNvPr id="3" name="Text 1"/>
          <p:cNvSpPr/>
          <p:nvPr/>
        </p:nvSpPr>
        <p:spPr>
          <a:xfrm>
            <a:off x="457200" y="640080"/>
            <a:ext cx="11247120" cy="292608"/>
          </a:xfrm>
          <a:prstGeom prst="rect">
            <a:avLst/>
          </a:prstGeom>
          <a:noFill/>
          <a:ln/>
        </p:spPr>
        <p:txBody>
          <a:bodyPr wrap="square" lIns="0" tIns="0" rIns="0" bIns="0" rtlCol="0" anchor="ctr"/>
          <a:lstStyle/>
          <a:p>
            <a:pPr algn="l" indent="0" marL="0">
              <a:buNone/>
            </a:pPr>
            <a:r>
              <a:rPr lang="en-US" sz="1100" i="1" dirty="0">
                <a:solidFill>
                  <a:srgbClr val="6B5D4F"/>
                </a:solidFill>
                <a:latin typeface="Calibri" pitchFamily="34" charset="0"/>
                <a:ea typeface="Calibri" pitchFamily="34" charset="-122"/>
                <a:cs typeface="Calibri" pitchFamily="34" charset="-120"/>
              </a:rPr>
              <a:t>Five industry frameworks drive every control. AgentShield runs as four parts: the target → the static scan → the behaviour emulation → the unified report.</a:t>
            </a:r>
            <a:endParaRPr lang="en-US" sz="1100" dirty="0"/>
          </a:p>
        </p:txBody>
      </p:sp>
      <p:sp>
        <p:nvSpPr>
          <p:cNvPr id="4" name="Shape 2"/>
          <p:cNvSpPr/>
          <p:nvPr/>
        </p:nvSpPr>
        <p:spPr>
          <a:xfrm>
            <a:off x="457200" y="1051560"/>
            <a:ext cx="11247120" cy="1417320"/>
          </a:xfrm>
          <a:prstGeom prst="roundRect">
            <a:avLst>
              <a:gd name="adj" fmla="val 7742"/>
            </a:avLst>
          </a:prstGeom>
          <a:solidFill>
            <a:srgbClr val="F4EFE7"/>
          </a:solidFill>
          <a:ln w="12700">
            <a:solidFill>
              <a:srgbClr val="E4DBCB"/>
            </a:solidFill>
            <a:prstDash val="solid"/>
          </a:ln>
        </p:spPr>
        <p:txBody>
          <a:bodyPr/>
          <a:p/>
        </p:txBody>
      </p:sp>
      <p:sp>
        <p:nvSpPr>
          <p:cNvPr id="5" name="Shape 3"/>
          <p:cNvSpPr/>
          <p:nvPr/>
        </p:nvSpPr>
        <p:spPr>
          <a:xfrm>
            <a:off x="457200" y="1143000"/>
            <a:ext cx="73152" cy="1234440"/>
          </a:xfrm>
          <a:prstGeom prst="rect">
            <a:avLst/>
          </a:prstGeom>
          <a:solidFill>
            <a:srgbClr val="8F5A39"/>
          </a:solidFill>
          <a:ln w="12700">
            <a:solidFill>
              <a:srgbClr val="8F5A39"/>
            </a:solidFill>
            <a:prstDash val="solid"/>
          </a:ln>
        </p:spPr>
        <p:txBody>
          <a:bodyPr/>
          <a:p/>
        </p:txBody>
      </p:sp>
      <p:sp>
        <p:nvSpPr>
          <p:cNvPr id="6" name="Text 4"/>
          <p:cNvSpPr/>
          <p:nvPr/>
        </p:nvSpPr>
        <p:spPr>
          <a:xfrm>
            <a:off x="822960" y="1216152"/>
            <a:ext cx="3657600" cy="228600"/>
          </a:xfrm>
          <a:prstGeom prst="rect">
            <a:avLst/>
          </a:prstGeom>
          <a:noFill/>
          <a:ln/>
        </p:spPr>
        <p:txBody>
          <a:bodyPr wrap="square" lIns="0" tIns="0" rIns="0" bIns="0" rtlCol="0" anchor="ctr"/>
          <a:lstStyle/>
          <a:p>
            <a:pPr algn="l" indent="0" marL="0">
              <a:buNone/>
            </a:pPr>
            <a:r>
              <a:rPr lang="en-US" sz="1000" b="1" spc="400" kern="0" dirty="0">
                <a:solidFill>
                  <a:srgbClr val="6B5D4F"/>
                </a:solidFill>
                <a:latin typeface="Calibri" pitchFamily="34" charset="0"/>
                <a:ea typeface="Calibri" pitchFamily="34" charset="-122"/>
                <a:cs typeface="Calibri" pitchFamily="34" charset="-120"/>
              </a:rPr>
              <a:t>FOUNDATION</a:t>
            </a:r>
            <a:endParaRPr lang="en-US" sz="1000" dirty="0"/>
          </a:p>
        </p:txBody>
      </p:sp>
      <p:sp>
        <p:nvSpPr>
          <p:cNvPr id="7" name="Text 5"/>
          <p:cNvSpPr/>
          <p:nvPr/>
        </p:nvSpPr>
        <p:spPr>
          <a:xfrm>
            <a:off x="822960" y="1417320"/>
            <a:ext cx="7315200" cy="365760"/>
          </a:xfrm>
          <a:prstGeom prst="rect">
            <a:avLst/>
          </a:prstGeom>
          <a:noFill/>
          <a:ln/>
        </p:spPr>
        <p:txBody>
          <a:bodyPr wrap="square" lIns="0" tIns="0" rIns="0" bIns="0" rtlCol="0" anchor="ctr"/>
          <a:lstStyle/>
          <a:p>
            <a:pPr algn="l" indent="0" marL="0">
              <a:buNone/>
            </a:pPr>
            <a:r>
              <a:rPr lang="en-US" sz="1900" b="1" dirty="0">
                <a:solidFill>
                  <a:srgbClr val="000000"/>
                </a:solidFill>
                <a:latin typeface="Calibri" pitchFamily="34" charset="0"/>
                <a:ea typeface="Calibri" pitchFamily="34" charset="-122"/>
                <a:cs typeface="Calibri" pitchFamily="34" charset="-120"/>
              </a:rPr>
              <a:t>Five industry security frameworks</a:t>
            </a:r>
            <a:endParaRPr lang="en-US" sz="1900" dirty="0"/>
          </a:p>
        </p:txBody>
      </p:sp>
      <p:sp>
        <p:nvSpPr>
          <p:cNvPr id="8" name="Text 6"/>
          <p:cNvSpPr/>
          <p:nvPr/>
        </p:nvSpPr>
        <p:spPr>
          <a:xfrm>
            <a:off x="822960" y="1764792"/>
            <a:ext cx="7315200" cy="228600"/>
          </a:xfrm>
          <a:prstGeom prst="rect">
            <a:avLst/>
          </a:prstGeom>
          <a:noFill/>
          <a:ln/>
        </p:spPr>
        <p:txBody>
          <a:bodyPr wrap="square" lIns="0" tIns="0" rIns="0" bIns="0" rtlCol="0" anchor="ctr"/>
          <a:lstStyle/>
          <a:p>
            <a:pPr algn="l" indent="0" marL="0">
              <a:buNone/>
            </a:pPr>
            <a:r>
              <a:rPr lang="en-US" sz="1100" i="1" dirty="0">
                <a:solidFill>
                  <a:srgbClr val="6B5D4F"/>
                </a:solidFill>
                <a:latin typeface="Calibri" pitchFamily="34" charset="0"/>
                <a:ea typeface="Calibri" pitchFamily="34" charset="-122"/>
                <a:cs typeface="Calibri" pitchFamily="34" charset="-120"/>
              </a:rPr>
              <a:t>AgentShield is built on these.</a:t>
            </a:r>
            <a:endParaRPr lang="en-US" sz="1100" dirty="0"/>
          </a:p>
        </p:txBody>
      </p:sp>
      <p:sp>
        <p:nvSpPr>
          <p:cNvPr id="9" name="Shape 7"/>
          <p:cNvSpPr/>
          <p:nvPr/>
        </p:nvSpPr>
        <p:spPr>
          <a:xfrm>
            <a:off x="822960" y="2057400"/>
            <a:ext cx="2015338" cy="292608"/>
          </a:xfrm>
          <a:prstGeom prst="roundRect">
            <a:avLst>
              <a:gd name="adj" fmla="val 50000"/>
            </a:avLst>
          </a:prstGeom>
          <a:solidFill>
            <a:srgbClr val="FFFFFF"/>
          </a:solidFill>
          <a:ln w="12700">
            <a:solidFill>
              <a:srgbClr val="E4DBCB"/>
            </a:solidFill>
            <a:prstDash val="solid"/>
          </a:ln>
        </p:spPr>
        <p:txBody>
          <a:bodyPr/>
          <a:p/>
        </p:txBody>
      </p:sp>
      <p:sp>
        <p:nvSpPr>
          <p:cNvPr id="10" name="Shape 8"/>
          <p:cNvSpPr/>
          <p:nvPr/>
        </p:nvSpPr>
        <p:spPr>
          <a:xfrm>
            <a:off x="950976" y="2157984"/>
            <a:ext cx="91440" cy="91440"/>
          </a:xfrm>
          <a:prstGeom prst="ellipse">
            <a:avLst/>
          </a:prstGeom>
          <a:solidFill>
            <a:srgbClr val="8F5A39"/>
          </a:solidFill>
          <a:ln w="12700">
            <a:solidFill>
              <a:srgbClr val="8F5A39"/>
            </a:solidFill>
            <a:prstDash val="solid"/>
          </a:ln>
        </p:spPr>
        <p:txBody>
          <a:bodyPr/>
          <a:p/>
        </p:txBody>
      </p:sp>
      <p:sp>
        <p:nvSpPr>
          <p:cNvPr id="11" name="Text 9"/>
          <p:cNvSpPr/>
          <p:nvPr/>
        </p:nvSpPr>
        <p:spPr>
          <a:xfrm>
            <a:off x="1097280" y="2057400"/>
            <a:ext cx="1695298" cy="292608"/>
          </a:xfrm>
          <a:prstGeom prst="rect">
            <a:avLst/>
          </a:prstGeom>
          <a:noFill/>
          <a:ln/>
        </p:spPr>
        <p:txBody>
          <a:bodyPr wrap="square" lIns="0" tIns="0" rIns="0" bIns="0" rtlCol="0" anchor="ctr"/>
          <a:lstStyle/>
          <a:p>
            <a:pPr algn="l" indent="0" marL="0">
              <a:buNone/>
            </a:pPr>
            <a:r>
              <a:rPr lang="en-US" sz="1000" b="1" dirty="0">
                <a:solidFill>
                  <a:srgbClr val="1A1A1A"/>
                </a:solidFill>
                <a:latin typeface="Calibri" pitchFamily="34" charset="0"/>
                <a:ea typeface="Calibri" pitchFamily="34" charset="-122"/>
                <a:cs typeface="Calibri" pitchFamily="34" charset="-120"/>
              </a:rPr>
              <a:t>OWASP LLM Top 10 v2</a:t>
            </a:r>
            <a:endParaRPr lang="en-US" sz="1000" dirty="0"/>
          </a:p>
        </p:txBody>
      </p:sp>
      <p:sp>
        <p:nvSpPr>
          <p:cNvPr id="12" name="Shape 10"/>
          <p:cNvSpPr/>
          <p:nvPr/>
        </p:nvSpPr>
        <p:spPr>
          <a:xfrm>
            <a:off x="2948026" y="2057400"/>
            <a:ext cx="2015338" cy="292608"/>
          </a:xfrm>
          <a:prstGeom prst="roundRect">
            <a:avLst>
              <a:gd name="adj" fmla="val 50000"/>
            </a:avLst>
          </a:prstGeom>
          <a:solidFill>
            <a:srgbClr val="FFFFFF"/>
          </a:solidFill>
          <a:ln w="12700">
            <a:solidFill>
              <a:srgbClr val="E4DBCB"/>
            </a:solidFill>
            <a:prstDash val="solid"/>
          </a:ln>
        </p:spPr>
        <p:txBody>
          <a:bodyPr/>
          <a:p/>
        </p:txBody>
      </p:sp>
      <p:sp>
        <p:nvSpPr>
          <p:cNvPr id="13" name="Shape 11"/>
          <p:cNvSpPr/>
          <p:nvPr/>
        </p:nvSpPr>
        <p:spPr>
          <a:xfrm>
            <a:off x="3076042" y="2157984"/>
            <a:ext cx="91440" cy="91440"/>
          </a:xfrm>
          <a:prstGeom prst="ellipse">
            <a:avLst/>
          </a:prstGeom>
          <a:solidFill>
            <a:srgbClr val="8F5A39"/>
          </a:solidFill>
          <a:ln w="12700">
            <a:solidFill>
              <a:srgbClr val="8F5A39"/>
            </a:solidFill>
            <a:prstDash val="solid"/>
          </a:ln>
        </p:spPr>
        <p:txBody>
          <a:bodyPr/>
          <a:p/>
        </p:txBody>
      </p:sp>
      <p:sp>
        <p:nvSpPr>
          <p:cNvPr id="14" name="Text 12"/>
          <p:cNvSpPr/>
          <p:nvPr/>
        </p:nvSpPr>
        <p:spPr>
          <a:xfrm>
            <a:off x="3222346" y="2057400"/>
            <a:ext cx="1695298" cy="292608"/>
          </a:xfrm>
          <a:prstGeom prst="rect">
            <a:avLst/>
          </a:prstGeom>
          <a:noFill/>
          <a:ln/>
        </p:spPr>
        <p:txBody>
          <a:bodyPr wrap="square" lIns="0" tIns="0" rIns="0" bIns="0" rtlCol="0" anchor="ctr"/>
          <a:lstStyle/>
          <a:p>
            <a:pPr algn="l" indent="0" marL="0">
              <a:buNone/>
            </a:pPr>
            <a:r>
              <a:rPr lang="en-US" sz="1000" b="1" dirty="0">
                <a:solidFill>
                  <a:srgbClr val="1A1A1A"/>
                </a:solidFill>
                <a:latin typeface="Calibri" pitchFamily="34" charset="0"/>
                <a:ea typeface="Calibri" pitchFamily="34" charset="-122"/>
                <a:cs typeface="Calibri" pitchFamily="34" charset="-120"/>
              </a:rPr>
              <a:t>OWASP Agentic AI Top 10</a:t>
            </a:r>
            <a:endParaRPr lang="en-US" sz="1000" dirty="0"/>
          </a:p>
        </p:txBody>
      </p:sp>
      <p:sp>
        <p:nvSpPr>
          <p:cNvPr id="15" name="Shape 13"/>
          <p:cNvSpPr/>
          <p:nvPr/>
        </p:nvSpPr>
        <p:spPr>
          <a:xfrm>
            <a:off x="5073091" y="2057400"/>
            <a:ext cx="2015338" cy="292608"/>
          </a:xfrm>
          <a:prstGeom prst="roundRect">
            <a:avLst>
              <a:gd name="adj" fmla="val 50000"/>
            </a:avLst>
          </a:prstGeom>
          <a:solidFill>
            <a:srgbClr val="FFFFFF"/>
          </a:solidFill>
          <a:ln w="12700">
            <a:solidFill>
              <a:srgbClr val="E4DBCB"/>
            </a:solidFill>
            <a:prstDash val="solid"/>
          </a:ln>
        </p:spPr>
        <p:txBody>
          <a:bodyPr/>
          <a:p/>
        </p:txBody>
      </p:sp>
      <p:sp>
        <p:nvSpPr>
          <p:cNvPr id="16" name="Shape 14"/>
          <p:cNvSpPr/>
          <p:nvPr/>
        </p:nvSpPr>
        <p:spPr>
          <a:xfrm>
            <a:off x="5201107" y="2157984"/>
            <a:ext cx="91440" cy="91440"/>
          </a:xfrm>
          <a:prstGeom prst="ellipse">
            <a:avLst/>
          </a:prstGeom>
          <a:solidFill>
            <a:srgbClr val="8F5A39"/>
          </a:solidFill>
          <a:ln w="12700">
            <a:solidFill>
              <a:srgbClr val="8F5A39"/>
            </a:solidFill>
            <a:prstDash val="solid"/>
          </a:ln>
        </p:spPr>
        <p:txBody>
          <a:bodyPr/>
          <a:p/>
        </p:txBody>
      </p:sp>
      <p:sp>
        <p:nvSpPr>
          <p:cNvPr id="17" name="Text 15"/>
          <p:cNvSpPr/>
          <p:nvPr/>
        </p:nvSpPr>
        <p:spPr>
          <a:xfrm>
            <a:off x="5347411" y="2057400"/>
            <a:ext cx="1695298" cy="292608"/>
          </a:xfrm>
          <a:prstGeom prst="rect">
            <a:avLst/>
          </a:prstGeom>
          <a:noFill/>
          <a:ln/>
        </p:spPr>
        <p:txBody>
          <a:bodyPr wrap="square" lIns="0" tIns="0" rIns="0" bIns="0" rtlCol="0" anchor="ctr"/>
          <a:lstStyle/>
          <a:p>
            <a:pPr algn="l" indent="0" marL="0">
              <a:buNone/>
            </a:pPr>
            <a:r>
              <a:rPr lang="en-US" sz="1000" b="1" dirty="0">
                <a:solidFill>
                  <a:srgbClr val="1A1A1A"/>
                </a:solidFill>
                <a:latin typeface="Calibri" pitchFamily="34" charset="0"/>
                <a:ea typeface="Calibri" pitchFamily="34" charset="-122"/>
                <a:cs typeface="Calibri" pitchFamily="34" charset="-120"/>
              </a:rPr>
              <a:t>OWASP Agentic Skills (AST10)</a:t>
            </a:r>
            <a:endParaRPr lang="en-US" sz="1000" dirty="0"/>
          </a:p>
        </p:txBody>
      </p:sp>
      <p:sp>
        <p:nvSpPr>
          <p:cNvPr id="18" name="Shape 16"/>
          <p:cNvSpPr/>
          <p:nvPr/>
        </p:nvSpPr>
        <p:spPr>
          <a:xfrm>
            <a:off x="7198157" y="2057400"/>
            <a:ext cx="2015338" cy="292608"/>
          </a:xfrm>
          <a:prstGeom prst="roundRect">
            <a:avLst>
              <a:gd name="adj" fmla="val 50000"/>
            </a:avLst>
          </a:prstGeom>
          <a:solidFill>
            <a:srgbClr val="FFFFFF"/>
          </a:solidFill>
          <a:ln w="12700">
            <a:solidFill>
              <a:srgbClr val="E4DBCB"/>
            </a:solidFill>
            <a:prstDash val="solid"/>
          </a:ln>
        </p:spPr>
        <p:txBody>
          <a:bodyPr/>
          <a:p/>
        </p:txBody>
      </p:sp>
      <p:sp>
        <p:nvSpPr>
          <p:cNvPr id="19" name="Shape 17"/>
          <p:cNvSpPr/>
          <p:nvPr/>
        </p:nvSpPr>
        <p:spPr>
          <a:xfrm>
            <a:off x="7326173" y="2157984"/>
            <a:ext cx="91440" cy="91440"/>
          </a:xfrm>
          <a:prstGeom prst="ellipse">
            <a:avLst/>
          </a:prstGeom>
          <a:solidFill>
            <a:srgbClr val="8F5A39"/>
          </a:solidFill>
          <a:ln w="12700">
            <a:solidFill>
              <a:srgbClr val="8F5A39"/>
            </a:solidFill>
            <a:prstDash val="solid"/>
          </a:ln>
        </p:spPr>
        <p:txBody>
          <a:bodyPr/>
          <a:p/>
        </p:txBody>
      </p:sp>
      <p:sp>
        <p:nvSpPr>
          <p:cNvPr id="20" name="Text 18"/>
          <p:cNvSpPr/>
          <p:nvPr/>
        </p:nvSpPr>
        <p:spPr>
          <a:xfrm>
            <a:off x="7472477" y="2057400"/>
            <a:ext cx="1695298" cy="292608"/>
          </a:xfrm>
          <a:prstGeom prst="rect">
            <a:avLst/>
          </a:prstGeom>
          <a:noFill/>
          <a:ln/>
        </p:spPr>
        <p:txBody>
          <a:bodyPr wrap="square" lIns="0" tIns="0" rIns="0" bIns="0" rtlCol="0" anchor="ctr"/>
          <a:lstStyle/>
          <a:p>
            <a:pPr algn="l" indent="0" marL="0">
              <a:buNone/>
            </a:pPr>
            <a:r>
              <a:rPr lang="en-US" sz="1000" b="1" dirty="0">
                <a:solidFill>
                  <a:srgbClr val="1A1A1A"/>
                </a:solidFill>
                <a:latin typeface="Calibri" pitchFamily="34" charset="0"/>
                <a:ea typeface="Calibri" pitchFamily="34" charset="-122"/>
                <a:cs typeface="Calibri" pitchFamily="34" charset="-120"/>
              </a:rPr>
              <a:t>MITRE ATLAS</a:t>
            </a:r>
            <a:endParaRPr lang="en-US" sz="1000" dirty="0"/>
          </a:p>
        </p:txBody>
      </p:sp>
      <p:sp>
        <p:nvSpPr>
          <p:cNvPr id="21" name="Shape 19"/>
          <p:cNvSpPr/>
          <p:nvPr/>
        </p:nvSpPr>
        <p:spPr>
          <a:xfrm>
            <a:off x="9323222" y="2057400"/>
            <a:ext cx="2015338" cy="292608"/>
          </a:xfrm>
          <a:prstGeom prst="roundRect">
            <a:avLst>
              <a:gd name="adj" fmla="val 50000"/>
            </a:avLst>
          </a:prstGeom>
          <a:solidFill>
            <a:srgbClr val="FFFFFF"/>
          </a:solidFill>
          <a:ln w="12700">
            <a:solidFill>
              <a:srgbClr val="E4DBCB"/>
            </a:solidFill>
            <a:prstDash val="solid"/>
          </a:ln>
        </p:spPr>
        <p:txBody>
          <a:bodyPr/>
          <a:p/>
        </p:txBody>
      </p:sp>
      <p:sp>
        <p:nvSpPr>
          <p:cNvPr id="22" name="Shape 20"/>
          <p:cNvSpPr/>
          <p:nvPr/>
        </p:nvSpPr>
        <p:spPr>
          <a:xfrm>
            <a:off x="9451238" y="2157984"/>
            <a:ext cx="91440" cy="91440"/>
          </a:xfrm>
          <a:prstGeom prst="ellipse">
            <a:avLst/>
          </a:prstGeom>
          <a:solidFill>
            <a:srgbClr val="8F5A39"/>
          </a:solidFill>
          <a:ln w="12700">
            <a:solidFill>
              <a:srgbClr val="8F5A39"/>
            </a:solidFill>
            <a:prstDash val="solid"/>
          </a:ln>
        </p:spPr>
        <p:txBody>
          <a:bodyPr/>
          <a:p/>
        </p:txBody>
      </p:sp>
      <p:sp>
        <p:nvSpPr>
          <p:cNvPr id="23" name="Text 21"/>
          <p:cNvSpPr/>
          <p:nvPr/>
        </p:nvSpPr>
        <p:spPr>
          <a:xfrm>
            <a:off x="9597542" y="2057400"/>
            <a:ext cx="1695298" cy="292608"/>
          </a:xfrm>
          <a:prstGeom prst="rect">
            <a:avLst/>
          </a:prstGeom>
          <a:noFill/>
          <a:ln/>
        </p:spPr>
        <p:txBody>
          <a:bodyPr wrap="square" lIns="0" tIns="0" rIns="0" bIns="0" rtlCol="0" anchor="ctr"/>
          <a:lstStyle/>
          <a:p>
            <a:pPr algn="l" indent="0" marL="0">
              <a:buNone/>
            </a:pPr>
            <a:r>
              <a:rPr lang="en-US" sz="1000" b="1" dirty="0">
                <a:solidFill>
                  <a:srgbClr val="1A1A1A"/>
                </a:solidFill>
                <a:latin typeface="Calibri" pitchFamily="34" charset="0"/>
                <a:ea typeface="Calibri" pitchFamily="34" charset="-122"/>
                <a:cs typeface="Calibri" pitchFamily="34" charset="-120"/>
              </a:rPr>
              <a:t>CWE</a:t>
            </a:r>
            <a:endParaRPr lang="en-US" sz="1000" dirty="0"/>
          </a:p>
        </p:txBody>
      </p:sp>
      <p:sp>
        <p:nvSpPr>
          <p:cNvPr id="24" name="Shape 22"/>
          <p:cNvSpPr/>
          <p:nvPr/>
        </p:nvSpPr>
        <p:spPr>
          <a:xfrm>
            <a:off x="4297680" y="2688336"/>
            <a:ext cx="1097280" cy="0"/>
          </a:xfrm>
          <a:prstGeom prst="line">
            <a:avLst/>
          </a:prstGeom>
          <a:noFill/>
          <a:ln w="12700">
            <a:solidFill>
              <a:srgbClr val="9C8F7E"/>
            </a:solidFill>
            <a:prstDash val="solid"/>
          </a:ln>
        </p:spPr>
        <p:txBody>
          <a:bodyPr/>
          <a:p/>
        </p:txBody>
      </p:sp>
      <p:sp>
        <p:nvSpPr>
          <p:cNvPr id="25" name="Shape 23"/>
          <p:cNvSpPr/>
          <p:nvPr/>
        </p:nvSpPr>
        <p:spPr>
          <a:xfrm>
            <a:off x="6766560" y="2688336"/>
            <a:ext cx="1097280" cy="0"/>
          </a:xfrm>
          <a:prstGeom prst="line">
            <a:avLst/>
          </a:prstGeom>
          <a:noFill/>
          <a:ln w="12700">
            <a:solidFill>
              <a:srgbClr val="9C8F7E"/>
            </a:solidFill>
            <a:prstDash val="solid"/>
          </a:ln>
        </p:spPr>
        <p:txBody>
          <a:bodyPr/>
          <a:p/>
        </p:txBody>
      </p:sp>
      <p:sp>
        <p:nvSpPr>
          <p:cNvPr id="26" name="Text 24"/>
          <p:cNvSpPr/>
          <p:nvPr/>
        </p:nvSpPr>
        <p:spPr>
          <a:xfrm>
            <a:off x="5394960" y="2578608"/>
            <a:ext cx="1371600" cy="228600"/>
          </a:xfrm>
          <a:prstGeom prst="rect">
            <a:avLst/>
          </a:prstGeom>
          <a:noFill/>
          <a:ln/>
        </p:spPr>
        <p:txBody>
          <a:bodyPr wrap="square" lIns="0" tIns="0" rIns="0" bIns="0" rtlCol="0" anchor="ctr"/>
          <a:lstStyle/>
          <a:p>
            <a:pPr algn="ctr" indent="0" marL="0">
              <a:buNone/>
            </a:pPr>
            <a:r>
              <a:rPr lang="en-US" sz="900" b="1" spc="300" kern="0" dirty="0">
                <a:solidFill>
                  <a:srgbClr val="6B5D4F"/>
                </a:solidFill>
                <a:latin typeface="Calibri" pitchFamily="34" charset="0"/>
                <a:ea typeface="Calibri" pitchFamily="34" charset="-122"/>
                <a:cs typeface="Calibri" pitchFamily="34" charset="-120"/>
              </a:rPr>
              <a:t>DRIVES EVERY CONTROL</a:t>
            </a:r>
            <a:endParaRPr lang="en-US" sz="900" dirty="0"/>
          </a:p>
        </p:txBody>
      </p:sp>
      <p:sp>
        <p:nvSpPr>
          <p:cNvPr id="27" name="Text 25"/>
          <p:cNvSpPr/>
          <p:nvPr/>
        </p:nvSpPr>
        <p:spPr>
          <a:xfrm>
            <a:off x="457200" y="2788920"/>
            <a:ext cx="11247120" cy="256032"/>
          </a:xfrm>
          <a:prstGeom prst="rect">
            <a:avLst/>
          </a:prstGeom>
          <a:noFill/>
          <a:ln/>
        </p:spPr>
        <p:txBody>
          <a:bodyPr wrap="square" lIns="0" tIns="0" rIns="0" bIns="0" rtlCol="0" anchor="ctr"/>
          <a:lstStyle/>
          <a:p>
            <a:pPr algn="l" indent="0" marL="0">
              <a:buNone/>
            </a:pPr>
            <a:r>
              <a:rPr lang="en-US" sz="1000" b="1" spc="300" kern="0" dirty="0">
                <a:solidFill>
                  <a:srgbClr val="6B5D4F"/>
                </a:solidFill>
                <a:latin typeface="Calibri" pitchFamily="34" charset="0"/>
                <a:ea typeface="Calibri" pitchFamily="34" charset="-122"/>
                <a:cs typeface="Calibri" pitchFamily="34" charset="-120"/>
              </a:rPr>
              <a:t>THE AGENTSHIELD PIPELINE  —  FOUR PARTS</a:t>
            </a:r>
            <a:endParaRPr lang="en-US" sz="1000" dirty="0"/>
          </a:p>
        </p:txBody>
      </p:sp>
      <p:sp>
        <p:nvSpPr>
          <p:cNvPr id="28" name="Shape 26"/>
          <p:cNvSpPr/>
          <p:nvPr/>
        </p:nvSpPr>
        <p:spPr>
          <a:xfrm>
            <a:off x="457200" y="3108960"/>
            <a:ext cx="2688336" cy="3657600"/>
          </a:xfrm>
          <a:prstGeom prst="rect">
            <a:avLst/>
          </a:prstGeom>
          <a:solidFill>
            <a:srgbClr val="FFFFFF"/>
          </a:solidFill>
          <a:ln w="12700">
            <a:solidFill>
              <a:srgbClr val="E4DBCB"/>
            </a:solidFill>
            <a:prstDash val="solid"/>
          </a:ln>
        </p:spPr>
        <p:txBody>
          <a:bodyPr/>
          <a:p/>
        </p:txBody>
      </p:sp>
      <p:sp>
        <p:nvSpPr>
          <p:cNvPr id="29" name="Shape 27"/>
          <p:cNvSpPr/>
          <p:nvPr/>
        </p:nvSpPr>
        <p:spPr>
          <a:xfrm>
            <a:off x="457200" y="3108960"/>
            <a:ext cx="2688336" cy="73152"/>
          </a:xfrm>
          <a:prstGeom prst="rect">
            <a:avLst/>
          </a:prstGeom>
          <a:solidFill>
            <a:srgbClr val="8F5A39"/>
          </a:solidFill>
          <a:ln w="12700">
            <a:solidFill>
              <a:srgbClr val="8F5A39"/>
            </a:solidFill>
            <a:prstDash val="solid"/>
          </a:ln>
        </p:spPr>
        <p:txBody>
          <a:bodyPr/>
          <a:p/>
        </p:txBody>
      </p:sp>
      <p:sp>
        <p:nvSpPr>
          <p:cNvPr id="30" name="Text 28"/>
          <p:cNvSpPr/>
          <p:nvPr/>
        </p:nvSpPr>
        <p:spPr>
          <a:xfrm>
            <a:off x="640080" y="3291840"/>
            <a:ext cx="1371600" cy="228600"/>
          </a:xfrm>
          <a:prstGeom prst="rect">
            <a:avLst/>
          </a:prstGeom>
          <a:noFill/>
          <a:ln/>
        </p:spPr>
        <p:txBody>
          <a:bodyPr wrap="square" lIns="0" tIns="0" rIns="0" bIns="0" rtlCol="0" anchor="ctr"/>
          <a:lstStyle/>
          <a:p>
            <a:pPr algn="l" indent="0" marL="0">
              <a:buNone/>
            </a:pPr>
            <a:r>
              <a:rPr lang="en-US" sz="1000" b="1" spc="300" kern="0" dirty="0">
                <a:solidFill>
                  <a:srgbClr val="8F5A39"/>
                </a:solidFill>
                <a:latin typeface="Calibri" pitchFamily="34" charset="0"/>
                <a:ea typeface="Calibri" pitchFamily="34" charset="-122"/>
                <a:cs typeface="Calibri" pitchFamily="34" charset="-120"/>
              </a:rPr>
              <a:t>PART 01</a:t>
            </a:r>
            <a:endParaRPr lang="en-US" sz="1000" dirty="0"/>
          </a:p>
        </p:txBody>
      </p:sp>
      <p:pic>
        <p:nvPicPr>
          <p:cNvPr id="31" name="Image 0" descr="preencoded.png"/>
          <p:cNvPicPr>
            <a:picLocks noChangeAspect="1"/>
          </p:cNvPicPr>
          <p:nvPr/>
        </p:nvPicPr>
        <p:blipFill>
          <a:blip r:embed="rId1"/>
          <a:stretch>
            <a:fillRect/>
          </a:stretch>
        </p:blipFill>
        <p:spPr>
          <a:xfrm>
            <a:off x="2642616" y="3273552"/>
            <a:ext cx="320040" cy="320040"/>
          </a:xfrm>
          <a:prstGeom prst="rect">
            <a:avLst/>
          </a:prstGeom>
        </p:spPr>
      </p:pic>
      <p:sp>
        <p:nvSpPr>
          <p:cNvPr id="32" name="Text 29"/>
          <p:cNvSpPr/>
          <p:nvPr/>
        </p:nvSpPr>
        <p:spPr>
          <a:xfrm>
            <a:off x="640080" y="3566160"/>
            <a:ext cx="2322576" cy="914400"/>
          </a:xfrm>
          <a:prstGeom prst="rect">
            <a:avLst/>
          </a:prstGeom>
          <a:noFill/>
          <a:ln/>
        </p:spPr>
        <p:txBody>
          <a:bodyPr wrap="square" lIns="0" tIns="0" rIns="0" bIns="0" rtlCol="0" anchor="ctr"/>
          <a:lstStyle/>
          <a:p>
            <a:pPr algn="l" indent="0" marL="0">
              <a:buNone/>
            </a:pPr>
            <a:r>
              <a:rPr lang="en-US" sz="5400" b="1" dirty="0">
                <a:solidFill>
                  <a:srgbClr val="000000"/>
                </a:solidFill>
                <a:latin typeface="Calibri" pitchFamily="34" charset="0"/>
                <a:ea typeface="Calibri" pitchFamily="34" charset="-122"/>
                <a:cs typeface="Calibri" pitchFamily="34" charset="-120"/>
              </a:rPr>
              <a:t>01</a:t>
            </a:r>
            <a:endParaRPr lang="en-US" sz="5400" dirty="0"/>
          </a:p>
        </p:txBody>
      </p:sp>
      <p:sp>
        <p:nvSpPr>
          <p:cNvPr id="33" name="Text 30"/>
          <p:cNvSpPr/>
          <p:nvPr/>
        </p:nvSpPr>
        <p:spPr>
          <a:xfrm>
            <a:off x="640080" y="4434840"/>
            <a:ext cx="2322576" cy="320040"/>
          </a:xfrm>
          <a:prstGeom prst="rect">
            <a:avLst/>
          </a:prstGeom>
          <a:noFill/>
          <a:ln/>
        </p:spPr>
        <p:txBody>
          <a:bodyPr wrap="square" lIns="0" tIns="0" rIns="0" bIns="0" rtlCol="0" anchor="ctr"/>
          <a:lstStyle/>
          <a:p>
            <a:pPr algn="l" indent="0" marL="0">
              <a:buNone/>
            </a:pPr>
            <a:r>
              <a:rPr lang="en-US" sz="1700" b="1" dirty="0">
                <a:solidFill>
                  <a:srgbClr val="000000"/>
                </a:solidFill>
                <a:latin typeface="Calibri" pitchFamily="34" charset="0"/>
                <a:ea typeface="Calibri" pitchFamily="34" charset="-122"/>
                <a:cs typeface="Calibri" pitchFamily="34" charset="-120"/>
              </a:rPr>
              <a:t>Your AI agent</a:t>
            </a:r>
            <a:endParaRPr lang="en-US" sz="1700" dirty="0"/>
          </a:p>
        </p:txBody>
      </p:sp>
      <p:sp>
        <p:nvSpPr>
          <p:cNvPr id="34" name="Text 31"/>
          <p:cNvSpPr/>
          <p:nvPr/>
        </p:nvSpPr>
        <p:spPr>
          <a:xfrm>
            <a:off x="640080" y="4754880"/>
            <a:ext cx="2322576" cy="502920"/>
          </a:xfrm>
          <a:prstGeom prst="rect">
            <a:avLst/>
          </a:prstGeom>
          <a:noFill/>
          <a:ln/>
        </p:spPr>
        <p:txBody>
          <a:bodyPr wrap="square" lIns="0" tIns="0" rIns="0" bIns="0" rtlCol="0" anchor="t"/>
          <a:lstStyle/>
          <a:p>
            <a:pPr algn="l" indent="0" marL="0">
              <a:buNone/>
            </a:pPr>
            <a:r>
              <a:rPr lang="en-US" sz="1000" i="1" dirty="0">
                <a:solidFill>
                  <a:srgbClr val="6B5D4F"/>
                </a:solidFill>
                <a:latin typeface="Calibri" pitchFamily="34" charset="0"/>
                <a:ea typeface="Calibri" pitchFamily="34" charset="-122"/>
                <a:cs typeface="Calibri" pitchFamily="34" charset="-120"/>
              </a:rPr>
              <a:t>code, manifests, tools —</a:t>
            </a:r>
            <a:endParaRPr lang="en-US" sz="1000" dirty="0"/>
          </a:p>
          <a:p>
            <a:pPr algn="l" indent="0" marL="0">
              <a:buNone/>
            </a:pPr>
            <a:r>
              <a:rPr lang="en-US" sz="1000" i="1" dirty="0">
                <a:solidFill>
                  <a:srgbClr val="6B5D4F"/>
                </a:solidFill>
                <a:latin typeface="Calibri" pitchFamily="34" charset="0"/>
                <a:ea typeface="Calibri" pitchFamily="34" charset="-122"/>
                <a:cs typeface="Calibri" pitchFamily="34" charset="-120"/>
              </a:rPr>
              <a:t>built to do real work.</a:t>
            </a:r>
            <a:endParaRPr lang="en-US" sz="1000" dirty="0"/>
          </a:p>
        </p:txBody>
      </p:sp>
      <p:sp>
        <p:nvSpPr>
          <p:cNvPr id="35" name="Shape 32"/>
          <p:cNvSpPr/>
          <p:nvPr/>
        </p:nvSpPr>
        <p:spPr>
          <a:xfrm>
            <a:off x="640080" y="5303520"/>
            <a:ext cx="2322576" cy="0"/>
          </a:xfrm>
          <a:prstGeom prst="line">
            <a:avLst/>
          </a:prstGeom>
          <a:noFill/>
          <a:ln w="12700">
            <a:solidFill>
              <a:srgbClr val="E4DBCB"/>
            </a:solidFill>
            <a:prstDash val="solid"/>
          </a:ln>
        </p:spPr>
        <p:txBody>
          <a:bodyPr/>
          <a:p/>
        </p:txBody>
      </p:sp>
      <p:sp>
        <p:nvSpPr>
          <p:cNvPr id="36" name="Text 33"/>
          <p:cNvSpPr/>
          <p:nvPr/>
        </p:nvSpPr>
        <p:spPr>
          <a:xfrm>
            <a:off x="640080" y="5394960"/>
            <a:ext cx="2322576" cy="201168"/>
          </a:xfrm>
          <a:prstGeom prst="rect">
            <a:avLst/>
          </a:prstGeom>
          <a:noFill/>
          <a:ln/>
        </p:spPr>
        <p:txBody>
          <a:bodyPr wrap="square" lIns="0" tIns="0" rIns="0" bIns="0" rtlCol="0" anchor="ctr"/>
          <a:lstStyle/>
          <a:p>
            <a:pPr algn="ctr" indent="0" marL="0">
              <a:buNone/>
            </a:pPr>
            <a:r>
              <a:rPr lang="en-US" sz="900" b="1" spc="300" kern="0" dirty="0">
                <a:solidFill>
                  <a:srgbClr val="6B5D4F"/>
                </a:solidFill>
                <a:latin typeface="Calibri" pitchFamily="34" charset="0"/>
                <a:ea typeface="Calibri" pitchFamily="34" charset="-122"/>
                <a:cs typeface="Calibri" pitchFamily="34" charset="-120"/>
              </a:rPr>
              <a:t>WHAT IT CARRIES</a:t>
            </a:r>
            <a:endParaRPr lang="en-US" sz="900" dirty="0"/>
          </a:p>
        </p:txBody>
      </p:sp>
      <p:sp>
        <p:nvSpPr>
          <p:cNvPr id="37" name="Text 34"/>
          <p:cNvSpPr/>
          <p:nvPr/>
        </p:nvSpPr>
        <p:spPr>
          <a:xfrm>
            <a:off x="640080" y="5650992"/>
            <a:ext cx="2322576" cy="201168"/>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Source code</a:t>
            </a:r>
            <a:endParaRPr lang="en-US" sz="1050" dirty="0"/>
          </a:p>
        </p:txBody>
      </p:sp>
      <p:sp>
        <p:nvSpPr>
          <p:cNvPr id="38" name="Text 35"/>
          <p:cNvSpPr/>
          <p:nvPr/>
        </p:nvSpPr>
        <p:spPr>
          <a:xfrm>
            <a:off x="640080" y="5833872"/>
            <a:ext cx="2322576" cy="201168"/>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Skill manifests</a:t>
            </a:r>
            <a:endParaRPr lang="en-US" sz="1050" dirty="0"/>
          </a:p>
        </p:txBody>
      </p:sp>
      <p:sp>
        <p:nvSpPr>
          <p:cNvPr id="39" name="Text 36"/>
          <p:cNvSpPr/>
          <p:nvPr/>
        </p:nvSpPr>
        <p:spPr>
          <a:xfrm>
            <a:off x="640080" y="6016752"/>
            <a:ext cx="2322576" cy="201168"/>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Bundled configs</a:t>
            </a:r>
            <a:endParaRPr lang="en-US" sz="1050" dirty="0"/>
          </a:p>
        </p:txBody>
      </p:sp>
      <p:sp>
        <p:nvSpPr>
          <p:cNvPr id="40" name="Text 37"/>
          <p:cNvSpPr/>
          <p:nvPr/>
        </p:nvSpPr>
        <p:spPr>
          <a:xfrm>
            <a:off x="640080" y="6355080"/>
            <a:ext cx="2322576" cy="384048"/>
          </a:xfrm>
          <a:prstGeom prst="rect">
            <a:avLst/>
          </a:prstGeom>
          <a:noFill/>
          <a:ln/>
        </p:spPr>
        <p:txBody>
          <a:bodyPr wrap="square" lIns="0" tIns="0" rIns="0" bIns="0" rtlCol="0" anchor="ctr"/>
          <a:lstStyle/>
          <a:p>
            <a:pPr algn="ctr" indent="0" marL="0">
              <a:buNone/>
            </a:pPr>
            <a:r>
              <a:rPr lang="en-US" sz="850" i="1" dirty="0">
                <a:solidFill>
                  <a:srgbClr val="9C8F7E"/>
                </a:solidFill>
                <a:latin typeface="Calibri" pitchFamily="34" charset="0"/>
                <a:ea typeface="Calibri" pitchFamily="34" charset="-122"/>
                <a:cs typeface="Calibri" pitchFamily="34" charset="-120"/>
              </a:rPr>
              <a:t>no live endpoint required</a:t>
            </a:r>
            <a:endParaRPr lang="en-US" sz="850" dirty="0"/>
          </a:p>
          <a:p>
            <a:pPr algn="ctr" indent="0" marL="0">
              <a:buNone/>
            </a:pPr>
            <a:r>
              <a:rPr lang="en-US" sz="850" i="1" dirty="0">
                <a:solidFill>
                  <a:srgbClr val="9C8F7E"/>
                </a:solidFill>
                <a:latin typeface="Calibri" pitchFamily="34" charset="0"/>
                <a:ea typeface="Calibri" pitchFamily="34" charset="-122"/>
                <a:cs typeface="Calibri" pitchFamily="34" charset="-120"/>
              </a:rPr>
              <a:t/>
            </a:r>
            <a:endParaRPr lang="en-US" sz="850" dirty="0"/>
          </a:p>
        </p:txBody>
      </p:sp>
      <p:sp>
        <p:nvSpPr>
          <p:cNvPr id="41" name="Shape 38"/>
          <p:cNvSpPr/>
          <p:nvPr/>
        </p:nvSpPr>
        <p:spPr>
          <a:xfrm>
            <a:off x="3310128" y="3108960"/>
            <a:ext cx="2688336" cy="3657600"/>
          </a:xfrm>
          <a:prstGeom prst="rect">
            <a:avLst/>
          </a:prstGeom>
          <a:solidFill>
            <a:srgbClr val="FFFFFF"/>
          </a:solidFill>
          <a:ln w="12700">
            <a:solidFill>
              <a:srgbClr val="E4DBCB"/>
            </a:solidFill>
            <a:prstDash val="solid"/>
          </a:ln>
        </p:spPr>
        <p:txBody>
          <a:bodyPr/>
          <a:p/>
        </p:txBody>
      </p:sp>
      <p:sp>
        <p:nvSpPr>
          <p:cNvPr id="42" name="Shape 39"/>
          <p:cNvSpPr/>
          <p:nvPr/>
        </p:nvSpPr>
        <p:spPr>
          <a:xfrm>
            <a:off x="3310128" y="3108960"/>
            <a:ext cx="2688336" cy="73152"/>
          </a:xfrm>
          <a:prstGeom prst="rect">
            <a:avLst/>
          </a:prstGeom>
          <a:solidFill>
            <a:srgbClr val="5E3A24"/>
          </a:solidFill>
          <a:ln w="12700">
            <a:solidFill>
              <a:srgbClr val="5E3A24"/>
            </a:solidFill>
            <a:prstDash val="solid"/>
          </a:ln>
        </p:spPr>
        <p:txBody>
          <a:bodyPr/>
          <a:p/>
        </p:txBody>
      </p:sp>
      <p:sp>
        <p:nvSpPr>
          <p:cNvPr id="43" name="Text 40"/>
          <p:cNvSpPr/>
          <p:nvPr/>
        </p:nvSpPr>
        <p:spPr>
          <a:xfrm>
            <a:off x="3493008" y="3291840"/>
            <a:ext cx="1371600" cy="228600"/>
          </a:xfrm>
          <a:prstGeom prst="rect">
            <a:avLst/>
          </a:prstGeom>
          <a:noFill/>
          <a:ln/>
        </p:spPr>
        <p:txBody>
          <a:bodyPr wrap="square" lIns="0" tIns="0" rIns="0" bIns="0" rtlCol="0" anchor="ctr"/>
          <a:lstStyle/>
          <a:p>
            <a:pPr algn="l" indent="0" marL="0">
              <a:buNone/>
            </a:pPr>
            <a:r>
              <a:rPr lang="en-US" sz="1000" b="1" spc="300" kern="0" dirty="0">
                <a:solidFill>
                  <a:srgbClr val="5E3A24"/>
                </a:solidFill>
                <a:latin typeface="Calibri" pitchFamily="34" charset="0"/>
                <a:ea typeface="Calibri" pitchFamily="34" charset="-122"/>
                <a:cs typeface="Calibri" pitchFamily="34" charset="-120"/>
              </a:rPr>
              <a:t>PART 02</a:t>
            </a:r>
            <a:endParaRPr lang="en-US" sz="1000" dirty="0"/>
          </a:p>
        </p:txBody>
      </p:sp>
      <p:pic>
        <p:nvPicPr>
          <p:cNvPr id="44" name="Image 1" descr="preencoded.png"/>
          <p:cNvPicPr>
            <a:picLocks noChangeAspect="1"/>
          </p:cNvPicPr>
          <p:nvPr/>
        </p:nvPicPr>
        <p:blipFill>
          <a:blip r:embed="rId2"/>
          <a:stretch>
            <a:fillRect/>
          </a:stretch>
        </p:blipFill>
        <p:spPr>
          <a:xfrm>
            <a:off x="5495544" y="3273552"/>
            <a:ext cx="320040" cy="320040"/>
          </a:xfrm>
          <a:prstGeom prst="rect">
            <a:avLst/>
          </a:prstGeom>
        </p:spPr>
      </p:pic>
      <p:sp>
        <p:nvSpPr>
          <p:cNvPr id="45" name="Text 41"/>
          <p:cNvSpPr/>
          <p:nvPr/>
        </p:nvSpPr>
        <p:spPr>
          <a:xfrm>
            <a:off x="3493008" y="3566160"/>
            <a:ext cx="2322576" cy="914400"/>
          </a:xfrm>
          <a:prstGeom prst="rect">
            <a:avLst/>
          </a:prstGeom>
          <a:noFill/>
          <a:ln/>
        </p:spPr>
        <p:txBody>
          <a:bodyPr wrap="square" lIns="0" tIns="0" rIns="0" bIns="0" rtlCol="0" anchor="ctr"/>
          <a:lstStyle/>
          <a:p>
            <a:pPr algn="l" indent="0" marL="0">
              <a:buNone/>
            </a:pPr>
            <a:r>
              <a:rPr lang="en-US" sz="5400" b="1" dirty="0">
                <a:solidFill>
                  <a:srgbClr val="000000"/>
                </a:solidFill>
                <a:latin typeface="Calibri" pitchFamily="34" charset="0"/>
                <a:ea typeface="Calibri" pitchFamily="34" charset="-122"/>
                <a:cs typeface="Calibri" pitchFamily="34" charset="-120"/>
              </a:rPr>
              <a:t>02</a:t>
            </a:r>
            <a:endParaRPr lang="en-US" sz="5400" dirty="0"/>
          </a:p>
        </p:txBody>
      </p:sp>
      <p:sp>
        <p:nvSpPr>
          <p:cNvPr id="46" name="Text 42"/>
          <p:cNvSpPr/>
          <p:nvPr/>
        </p:nvSpPr>
        <p:spPr>
          <a:xfrm>
            <a:off x="3493008" y="4434840"/>
            <a:ext cx="2322576" cy="320040"/>
          </a:xfrm>
          <a:prstGeom prst="rect">
            <a:avLst/>
          </a:prstGeom>
          <a:noFill/>
          <a:ln/>
        </p:spPr>
        <p:txBody>
          <a:bodyPr wrap="square" lIns="0" tIns="0" rIns="0" bIns="0" rtlCol="0" anchor="ctr"/>
          <a:lstStyle/>
          <a:p>
            <a:pPr algn="l" indent="0" marL="0">
              <a:buNone/>
            </a:pPr>
            <a:r>
              <a:rPr lang="en-US" sz="1700" b="1" dirty="0">
                <a:solidFill>
                  <a:srgbClr val="000000"/>
                </a:solidFill>
                <a:latin typeface="Calibri" pitchFamily="34" charset="0"/>
                <a:ea typeface="Calibri" pitchFamily="34" charset="-122"/>
                <a:cs typeface="Calibri" pitchFamily="34" charset="-120"/>
              </a:rPr>
              <a:t>Static scan</a:t>
            </a:r>
            <a:endParaRPr lang="en-US" sz="1700" dirty="0"/>
          </a:p>
        </p:txBody>
      </p:sp>
      <p:sp>
        <p:nvSpPr>
          <p:cNvPr id="47" name="Text 43"/>
          <p:cNvSpPr/>
          <p:nvPr/>
        </p:nvSpPr>
        <p:spPr>
          <a:xfrm>
            <a:off x="3493008" y="4754880"/>
            <a:ext cx="2322576" cy="502920"/>
          </a:xfrm>
          <a:prstGeom prst="rect">
            <a:avLst/>
          </a:prstGeom>
          <a:noFill/>
          <a:ln/>
        </p:spPr>
        <p:txBody>
          <a:bodyPr wrap="square" lIns="0" tIns="0" rIns="0" bIns="0" rtlCol="0" anchor="t"/>
          <a:lstStyle/>
          <a:p>
            <a:pPr algn="l" indent="0" marL="0">
              <a:buNone/>
            </a:pPr>
            <a:r>
              <a:rPr lang="en-US" sz="1000" i="1" dirty="0">
                <a:solidFill>
                  <a:srgbClr val="6B5D4F"/>
                </a:solidFill>
                <a:latin typeface="Calibri" pitchFamily="34" charset="0"/>
                <a:ea typeface="Calibri" pitchFamily="34" charset="-122"/>
                <a:cs typeface="Calibri" pitchFamily="34" charset="-120"/>
              </a:rPr>
              <a:t>reads your code &amp; manifests —</a:t>
            </a:r>
            <a:endParaRPr lang="en-US" sz="1000" dirty="0"/>
          </a:p>
          <a:p>
            <a:pPr algn="l" indent="0" marL="0">
              <a:buNone/>
            </a:pPr>
            <a:r>
              <a:rPr lang="en-US" sz="1000" i="1" dirty="0">
                <a:solidFill>
                  <a:srgbClr val="6B5D4F"/>
                </a:solidFill>
                <a:latin typeface="Calibri" pitchFamily="34" charset="0"/>
                <a:ea typeface="Calibri" pitchFamily="34" charset="-122"/>
                <a:cs typeface="Calibri" pitchFamily="34" charset="-120"/>
              </a:rPr>
              <a:t>spots known issues, always.</a:t>
            </a:r>
            <a:endParaRPr lang="en-US" sz="1000" dirty="0"/>
          </a:p>
        </p:txBody>
      </p:sp>
      <p:sp>
        <p:nvSpPr>
          <p:cNvPr id="48" name="Shape 44"/>
          <p:cNvSpPr/>
          <p:nvPr/>
        </p:nvSpPr>
        <p:spPr>
          <a:xfrm>
            <a:off x="3493008" y="5303520"/>
            <a:ext cx="2322576" cy="0"/>
          </a:xfrm>
          <a:prstGeom prst="line">
            <a:avLst/>
          </a:prstGeom>
          <a:noFill/>
          <a:ln w="12700">
            <a:solidFill>
              <a:srgbClr val="E4DBCB"/>
            </a:solidFill>
            <a:prstDash val="solid"/>
          </a:ln>
        </p:spPr>
        <p:txBody>
          <a:bodyPr/>
          <a:p/>
        </p:txBody>
      </p:sp>
      <p:sp>
        <p:nvSpPr>
          <p:cNvPr id="49" name="Text 45"/>
          <p:cNvSpPr/>
          <p:nvPr/>
        </p:nvSpPr>
        <p:spPr>
          <a:xfrm>
            <a:off x="3493008" y="5394960"/>
            <a:ext cx="2322576" cy="201168"/>
          </a:xfrm>
          <a:prstGeom prst="rect">
            <a:avLst/>
          </a:prstGeom>
          <a:noFill/>
          <a:ln/>
        </p:spPr>
        <p:txBody>
          <a:bodyPr wrap="square" lIns="0" tIns="0" rIns="0" bIns="0" rtlCol="0" anchor="ctr"/>
          <a:lstStyle/>
          <a:p>
            <a:pPr algn="ctr" indent="0" marL="0">
              <a:buNone/>
            </a:pPr>
            <a:r>
              <a:rPr lang="en-US" sz="900" b="1" spc="300" kern="0" dirty="0">
                <a:solidFill>
                  <a:srgbClr val="6B5D4F"/>
                </a:solidFill>
                <a:latin typeface="Calibri" pitchFamily="34" charset="0"/>
                <a:ea typeface="Calibri" pitchFamily="34" charset="-122"/>
                <a:cs typeface="Calibri" pitchFamily="34" charset="-120"/>
              </a:rPr>
              <a:t>THREE LAYERS</a:t>
            </a:r>
            <a:endParaRPr lang="en-US" sz="900" dirty="0"/>
          </a:p>
        </p:txBody>
      </p:sp>
      <p:sp>
        <p:nvSpPr>
          <p:cNvPr id="50" name="Text 46"/>
          <p:cNvSpPr/>
          <p:nvPr/>
        </p:nvSpPr>
        <p:spPr>
          <a:xfrm>
            <a:off x="3493008" y="5650992"/>
            <a:ext cx="2322576" cy="201168"/>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Semgrep rules engine</a:t>
            </a:r>
            <a:endParaRPr lang="en-US" sz="1050" dirty="0"/>
          </a:p>
        </p:txBody>
      </p:sp>
      <p:sp>
        <p:nvSpPr>
          <p:cNvPr id="51" name="Text 47"/>
          <p:cNvSpPr/>
          <p:nvPr/>
        </p:nvSpPr>
        <p:spPr>
          <a:xfrm>
            <a:off x="3447288" y="5815584"/>
            <a:ext cx="2414016" cy="274320"/>
          </a:xfrm>
          <a:prstGeom prst="rect">
            <a:avLst/>
          </a:prstGeom>
          <a:noFill/>
          <a:ln/>
        </p:spPr>
        <p:txBody>
          <a:bodyPr wrap="square" lIns="0" tIns="0" rIns="0" bIns="0" rtlCol="0" anchor="ctr"/>
          <a:lstStyle/>
          <a:p>
            <a:pPr algn="ctr" indent="0" marL="0">
              <a:buNone/>
            </a:pPr>
            <a:r>
              <a:rPr lang="en-US" sz="850" dirty="0">
                <a:solidFill>
                  <a:srgbClr val="6B5D4F"/>
                </a:solidFill>
                <a:latin typeface="Calibri" pitchFamily="34" charset="0"/>
                <a:ea typeface="Calibri" pitchFamily="34" charset="-122"/>
                <a:cs typeface="Calibri" pitchFamily="34" charset="-120"/>
              </a:rPr>
              <a:t>19 rules · Python &amp; Java AST scan</a:t>
            </a:r>
            <a:endParaRPr lang="en-US" sz="850" dirty="0"/>
          </a:p>
        </p:txBody>
      </p:sp>
      <p:sp>
        <p:nvSpPr>
          <p:cNvPr id="52" name="Text 48"/>
          <p:cNvSpPr/>
          <p:nvPr/>
        </p:nvSpPr>
        <p:spPr>
          <a:xfrm>
            <a:off x="3493008" y="6016752"/>
            <a:ext cx="2322576" cy="201168"/>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Manifest scanner</a:t>
            </a:r>
            <a:endParaRPr lang="en-US" sz="1050" dirty="0"/>
          </a:p>
        </p:txBody>
      </p:sp>
      <p:sp>
        <p:nvSpPr>
          <p:cNvPr id="53" name="Text 49"/>
          <p:cNvSpPr/>
          <p:nvPr/>
        </p:nvSpPr>
        <p:spPr>
          <a:xfrm>
            <a:off x="3447288" y="6181344"/>
            <a:ext cx="2414016" cy="274320"/>
          </a:xfrm>
          <a:prstGeom prst="rect">
            <a:avLst/>
          </a:prstGeom>
          <a:noFill/>
          <a:ln/>
        </p:spPr>
        <p:txBody>
          <a:bodyPr wrap="square" lIns="0" tIns="0" rIns="0" bIns="0" rtlCol="0" anchor="ctr"/>
          <a:lstStyle/>
          <a:p>
            <a:pPr algn="ctr" indent="0" marL="0">
              <a:buNone/>
            </a:pPr>
            <a:r>
              <a:rPr lang="en-US" sz="850" dirty="0">
                <a:solidFill>
                  <a:srgbClr val="6B5D4F"/>
                </a:solidFill>
                <a:latin typeface="Calibri" pitchFamily="34" charset="0"/>
                <a:ea typeface="Calibri" pitchFamily="34" charset="-122"/>
                <a:cs typeface="Calibri" pitchFamily="34" charset="-120"/>
              </a:rPr>
              <a:t>12 rules · SKILL.md / AGENT.md / configs</a:t>
            </a:r>
            <a:endParaRPr lang="en-US" sz="850" dirty="0"/>
          </a:p>
        </p:txBody>
      </p:sp>
      <p:sp>
        <p:nvSpPr>
          <p:cNvPr id="54" name="Text 50"/>
          <p:cNvSpPr/>
          <p:nvPr/>
        </p:nvSpPr>
        <p:spPr>
          <a:xfrm>
            <a:off x="3493008" y="6382512"/>
            <a:ext cx="2322576" cy="201168"/>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Copilot LLM-as-judge</a:t>
            </a:r>
            <a:endParaRPr lang="en-US" sz="1050" dirty="0"/>
          </a:p>
        </p:txBody>
      </p:sp>
      <p:sp>
        <p:nvSpPr>
          <p:cNvPr id="55" name="Text 51"/>
          <p:cNvSpPr/>
          <p:nvPr/>
        </p:nvSpPr>
        <p:spPr>
          <a:xfrm>
            <a:off x="3447288" y="6547104"/>
            <a:ext cx="2414016" cy="274320"/>
          </a:xfrm>
          <a:prstGeom prst="rect">
            <a:avLst/>
          </a:prstGeom>
          <a:noFill/>
          <a:ln/>
        </p:spPr>
        <p:txBody>
          <a:bodyPr wrap="square" lIns="0" tIns="0" rIns="0" bIns="0" rtlCol="0" anchor="ctr"/>
          <a:lstStyle/>
          <a:p>
            <a:pPr algn="ctr" indent="0" marL="0">
              <a:buNone/>
            </a:pPr>
            <a:r>
              <a:rPr lang="en-US" sz="850" dirty="0">
                <a:solidFill>
                  <a:srgbClr val="6B5D4F"/>
                </a:solidFill>
                <a:latin typeface="Calibri" pitchFamily="34" charset="0"/>
                <a:ea typeface="Calibri" pitchFamily="34" charset="-122"/>
                <a:cs typeface="Calibri" pitchFamily="34" charset="-120"/>
              </a:rPr>
              <a:t>68 checks · interpretive review in your IDE</a:t>
            </a:r>
            <a:endParaRPr lang="en-US" sz="850" dirty="0"/>
          </a:p>
        </p:txBody>
      </p:sp>
      <p:sp>
        <p:nvSpPr>
          <p:cNvPr id="56" name="Shape 52"/>
          <p:cNvSpPr/>
          <p:nvPr/>
        </p:nvSpPr>
        <p:spPr>
          <a:xfrm>
            <a:off x="6163056" y="3108960"/>
            <a:ext cx="2688336" cy="3657600"/>
          </a:xfrm>
          <a:prstGeom prst="rect">
            <a:avLst/>
          </a:prstGeom>
          <a:solidFill>
            <a:srgbClr val="FFFFFF"/>
          </a:solidFill>
          <a:ln w="12700">
            <a:solidFill>
              <a:srgbClr val="E4DBCB"/>
            </a:solidFill>
            <a:prstDash val="solid"/>
          </a:ln>
        </p:spPr>
        <p:txBody>
          <a:bodyPr/>
          <a:p/>
        </p:txBody>
      </p:sp>
      <p:sp>
        <p:nvSpPr>
          <p:cNvPr id="57" name="Shape 53"/>
          <p:cNvSpPr/>
          <p:nvPr/>
        </p:nvSpPr>
        <p:spPr>
          <a:xfrm>
            <a:off x="6163056" y="3108960"/>
            <a:ext cx="2688336" cy="73152"/>
          </a:xfrm>
          <a:prstGeom prst="rect">
            <a:avLst/>
          </a:prstGeom>
          <a:solidFill>
            <a:srgbClr val="A6714A"/>
          </a:solidFill>
          <a:ln w="12700">
            <a:solidFill>
              <a:srgbClr val="A6714A"/>
            </a:solidFill>
            <a:prstDash val="solid"/>
          </a:ln>
        </p:spPr>
        <p:txBody>
          <a:bodyPr/>
          <a:p/>
        </p:txBody>
      </p:sp>
      <p:sp>
        <p:nvSpPr>
          <p:cNvPr id="58" name="Text 54"/>
          <p:cNvSpPr/>
          <p:nvPr/>
        </p:nvSpPr>
        <p:spPr>
          <a:xfrm>
            <a:off x="6345936" y="3291840"/>
            <a:ext cx="1371600" cy="228600"/>
          </a:xfrm>
          <a:prstGeom prst="rect">
            <a:avLst/>
          </a:prstGeom>
          <a:noFill/>
          <a:ln/>
        </p:spPr>
        <p:txBody>
          <a:bodyPr wrap="square" lIns="0" tIns="0" rIns="0" bIns="0" rtlCol="0" anchor="ctr"/>
          <a:lstStyle/>
          <a:p>
            <a:pPr algn="l" indent="0" marL="0">
              <a:buNone/>
            </a:pPr>
            <a:r>
              <a:rPr lang="en-US" sz="1000" b="1" spc="300" kern="0" dirty="0">
                <a:solidFill>
                  <a:srgbClr val="A6714A"/>
                </a:solidFill>
                <a:latin typeface="Calibri" pitchFamily="34" charset="0"/>
                <a:ea typeface="Calibri" pitchFamily="34" charset="-122"/>
                <a:cs typeface="Calibri" pitchFamily="34" charset="-120"/>
              </a:rPr>
              <a:t>PART 03</a:t>
            </a:r>
            <a:endParaRPr lang="en-US" sz="1000" dirty="0"/>
          </a:p>
        </p:txBody>
      </p:sp>
      <p:pic>
        <p:nvPicPr>
          <p:cNvPr id="59" name="Image 2" descr="preencoded.png"/>
          <p:cNvPicPr>
            <a:picLocks noChangeAspect="1"/>
          </p:cNvPicPr>
          <p:nvPr/>
        </p:nvPicPr>
        <p:blipFill>
          <a:blip r:embed="rId3"/>
          <a:stretch>
            <a:fillRect/>
          </a:stretch>
        </p:blipFill>
        <p:spPr>
          <a:xfrm>
            <a:off x="8348472" y="3273552"/>
            <a:ext cx="320040" cy="320040"/>
          </a:xfrm>
          <a:prstGeom prst="rect">
            <a:avLst/>
          </a:prstGeom>
        </p:spPr>
      </p:pic>
      <p:sp>
        <p:nvSpPr>
          <p:cNvPr id="60" name="Text 55"/>
          <p:cNvSpPr/>
          <p:nvPr/>
        </p:nvSpPr>
        <p:spPr>
          <a:xfrm>
            <a:off x="6345936" y="3566160"/>
            <a:ext cx="2322576" cy="914400"/>
          </a:xfrm>
          <a:prstGeom prst="rect">
            <a:avLst/>
          </a:prstGeom>
          <a:noFill/>
          <a:ln/>
        </p:spPr>
        <p:txBody>
          <a:bodyPr wrap="square" lIns="0" tIns="0" rIns="0" bIns="0" rtlCol="0" anchor="ctr"/>
          <a:lstStyle/>
          <a:p>
            <a:pPr algn="l" indent="0" marL="0">
              <a:buNone/>
            </a:pPr>
            <a:r>
              <a:rPr lang="en-US" sz="5400" b="1" dirty="0">
                <a:solidFill>
                  <a:srgbClr val="000000"/>
                </a:solidFill>
                <a:latin typeface="Calibri" pitchFamily="34" charset="0"/>
                <a:ea typeface="Calibri" pitchFamily="34" charset="-122"/>
                <a:cs typeface="Calibri" pitchFamily="34" charset="-120"/>
              </a:rPr>
              <a:t>03</a:t>
            </a:r>
            <a:endParaRPr lang="en-US" sz="5400" dirty="0"/>
          </a:p>
        </p:txBody>
      </p:sp>
      <p:sp>
        <p:nvSpPr>
          <p:cNvPr id="61" name="Text 56"/>
          <p:cNvSpPr/>
          <p:nvPr/>
        </p:nvSpPr>
        <p:spPr>
          <a:xfrm>
            <a:off x="6345936" y="4434840"/>
            <a:ext cx="2322576" cy="320040"/>
          </a:xfrm>
          <a:prstGeom prst="rect">
            <a:avLst/>
          </a:prstGeom>
          <a:noFill/>
          <a:ln/>
        </p:spPr>
        <p:txBody>
          <a:bodyPr wrap="square" lIns="0" tIns="0" rIns="0" bIns="0" rtlCol="0" anchor="ctr"/>
          <a:lstStyle/>
          <a:p>
            <a:pPr algn="l" indent="0" marL="0">
              <a:buNone/>
            </a:pPr>
            <a:r>
              <a:rPr lang="en-US" sz="1700" b="1" dirty="0">
                <a:solidFill>
                  <a:srgbClr val="000000"/>
                </a:solidFill>
                <a:latin typeface="Calibri" pitchFamily="34" charset="0"/>
                <a:ea typeface="Calibri" pitchFamily="34" charset="-122"/>
                <a:cs typeface="Calibri" pitchFamily="34" charset="-120"/>
              </a:rPr>
              <a:t>Behaviour emulation</a:t>
            </a:r>
            <a:endParaRPr lang="en-US" sz="1700" dirty="0"/>
          </a:p>
        </p:txBody>
      </p:sp>
      <p:sp>
        <p:nvSpPr>
          <p:cNvPr id="62" name="Text 57"/>
          <p:cNvSpPr/>
          <p:nvPr/>
        </p:nvSpPr>
        <p:spPr>
          <a:xfrm>
            <a:off x="6345936" y="4754880"/>
            <a:ext cx="2322576" cy="502920"/>
          </a:xfrm>
          <a:prstGeom prst="rect">
            <a:avLst/>
          </a:prstGeom>
          <a:noFill/>
          <a:ln/>
        </p:spPr>
        <p:txBody>
          <a:bodyPr wrap="square" lIns="0" tIns="0" rIns="0" bIns="0" rtlCol="0" anchor="t"/>
          <a:lstStyle/>
          <a:p>
            <a:pPr algn="l" indent="0" marL="0">
              <a:buNone/>
            </a:pPr>
            <a:r>
              <a:rPr lang="en-US" sz="1000" i="1" dirty="0">
                <a:solidFill>
                  <a:srgbClr val="6B5D4F"/>
                </a:solidFill>
                <a:latin typeface="Calibri" pitchFamily="34" charset="0"/>
                <a:ea typeface="Calibri" pitchFamily="34" charset="-122"/>
                <a:cs typeface="Calibri" pitchFamily="34" charset="-120"/>
              </a:rPr>
              <a:t>emulates attacks offline —</a:t>
            </a:r>
            <a:endParaRPr lang="en-US" sz="1000" dirty="0"/>
          </a:p>
          <a:p>
            <a:pPr algn="l" indent="0" marL="0">
              <a:buNone/>
            </a:pPr>
            <a:r>
              <a:rPr lang="en-US" sz="1000" i="1" dirty="0">
                <a:solidFill>
                  <a:srgbClr val="6B5D4F"/>
                </a:solidFill>
                <a:latin typeface="Calibri" pitchFamily="34" charset="0"/>
                <a:ea typeface="Calibri" pitchFamily="34" charset="-122"/>
                <a:cs typeface="Calibri" pitchFamily="34" charset="-120"/>
              </a:rPr>
              <a:t>catches what static can't.</a:t>
            </a:r>
            <a:endParaRPr lang="en-US" sz="1000" dirty="0"/>
          </a:p>
        </p:txBody>
      </p:sp>
      <p:sp>
        <p:nvSpPr>
          <p:cNvPr id="63" name="Shape 58"/>
          <p:cNvSpPr/>
          <p:nvPr/>
        </p:nvSpPr>
        <p:spPr>
          <a:xfrm>
            <a:off x="6345936" y="5303520"/>
            <a:ext cx="2322576" cy="0"/>
          </a:xfrm>
          <a:prstGeom prst="line">
            <a:avLst/>
          </a:prstGeom>
          <a:noFill/>
          <a:ln w="12700">
            <a:solidFill>
              <a:srgbClr val="E4DBCB"/>
            </a:solidFill>
            <a:prstDash val="solid"/>
          </a:ln>
        </p:spPr>
        <p:txBody>
          <a:bodyPr/>
          <a:p/>
        </p:txBody>
      </p:sp>
      <p:sp>
        <p:nvSpPr>
          <p:cNvPr id="64" name="Text 59"/>
          <p:cNvSpPr/>
          <p:nvPr/>
        </p:nvSpPr>
        <p:spPr>
          <a:xfrm>
            <a:off x="6345936" y="5394960"/>
            <a:ext cx="2322576" cy="201168"/>
          </a:xfrm>
          <a:prstGeom prst="rect">
            <a:avLst/>
          </a:prstGeom>
          <a:noFill/>
          <a:ln/>
        </p:spPr>
        <p:txBody>
          <a:bodyPr wrap="square" lIns="0" tIns="0" rIns="0" bIns="0" rtlCol="0" anchor="ctr"/>
          <a:lstStyle/>
          <a:p>
            <a:pPr algn="ctr" indent="0" marL="0">
              <a:buNone/>
            </a:pPr>
            <a:r>
              <a:rPr lang="en-US" sz="900" b="1" spc="300" kern="0" dirty="0">
                <a:solidFill>
                  <a:srgbClr val="6B5D4F"/>
                </a:solidFill>
                <a:latin typeface="Calibri" pitchFamily="34" charset="0"/>
                <a:ea typeface="Calibri" pitchFamily="34" charset="-122"/>
                <a:cs typeface="Calibri" pitchFamily="34" charset="-120"/>
              </a:rPr>
              <a:t>HOW IT WORKS</a:t>
            </a:r>
            <a:endParaRPr lang="en-US" sz="900" dirty="0"/>
          </a:p>
        </p:txBody>
      </p:sp>
      <p:sp>
        <p:nvSpPr>
          <p:cNvPr id="65" name="Text 60"/>
          <p:cNvSpPr/>
          <p:nvPr/>
        </p:nvSpPr>
        <p:spPr>
          <a:xfrm>
            <a:off x="6345936" y="5650992"/>
            <a:ext cx="2322576" cy="201168"/>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Source × transition model</a:t>
            </a:r>
            <a:endParaRPr lang="en-US" sz="1050" dirty="0"/>
          </a:p>
        </p:txBody>
      </p:sp>
      <p:sp>
        <p:nvSpPr>
          <p:cNvPr id="66" name="Text 61"/>
          <p:cNvSpPr/>
          <p:nvPr/>
        </p:nvSpPr>
        <p:spPr>
          <a:xfrm>
            <a:off x="6300216" y="5815584"/>
            <a:ext cx="2414016" cy="274320"/>
          </a:xfrm>
          <a:prstGeom prst="rect">
            <a:avLst/>
          </a:prstGeom>
          <a:noFill/>
          <a:ln/>
        </p:spPr>
        <p:txBody>
          <a:bodyPr wrap="square" lIns="0" tIns="0" rIns="0" bIns="0" rtlCol="0" anchor="ctr"/>
          <a:lstStyle/>
          <a:p>
            <a:pPr algn="ctr" indent="0" marL="0">
              <a:buNone/>
            </a:pPr>
            <a:r>
              <a:rPr lang="en-US" sz="850" dirty="0">
                <a:solidFill>
                  <a:srgbClr val="6B5D4F"/>
                </a:solidFill>
                <a:latin typeface="Calibri" pitchFamily="34" charset="0"/>
                <a:ea typeface="Calibri" pitchFamily="34" charset="-122"/>
                <a:cs typeface="Calibri" pitchFamily="34" charset="-120"/>
              </a:rPr>
              <a:t>6 untrusted sources × 4 pipeline transitions</a:t>
            </a:r>
            <a:endParaRPr lang="en-US" sz="850" dirty="0"/>
          </a:p>
        </p:txBody>
      </p:sp>
      <p:sp>
        <p:nvSpPr>
          <p:cNvPr id="67" name="Text 62"/>
          <p:cNvSpPr/>
          <p:nvPr/>
        </p:nvSpPr>
        <p:spPr>
          <a:xfrm>
            <a:off x="6345936" y="6016752"/>
            <a:ext cx="2322576" cy="201168"/>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Seed → mutation escalation</a:t>
            </a:r>
            <a:endParaRPr lang="en-US" sz="1050" dirty="0"/>
          </a:p>
        </p:txBody>
      </p:sp>
      <p:sp>
        <p:nvSpPr>
          <p:cNvPr id="68" name="Text 63"/>
          <p:cNvSpPr/>
          <p:nvPr/>
        </p:nvSpPr>
        <p:spPr>
          <a:xfrm>
            <a:off x="6300216" y="6181344"/>
            <a:ext cx="2414016" cy="274320"/>
          </a:xfrm>
          <a:prstGeom prst="rect">
            <a:avLst/>
          </a:prstGeom>
          <a:noFill/>
          <a:ln/>
        </p:spPr>
        <p:txBody>
          <a:bodyPr wrap="square" lIns="0" tIns="0" rIns="0" bIns="0" rtlCol="0" anchor="ctr"/>
          <a:lstStyle/>
          <a:p>
            <a:pPr algn="ctr" indent="0" marL="0">
              <a:buNone/>
            </a:pPr>
            <a:r>
              <a:rPr lang="en-US" sz="850" dirty="0">
                <a:solidFill>
                  <a:srgbClr val="6B5D4F"/>
                </a:solidFill>
                <a:latin typeface="Calibri" pitchFamily="34" charset="0"/>
                <a:ea typeface="Calibri" pitchFamily="34" charset="-122"/>
                <a:cs typeface="Calibri" pitchFamily="34" charset="-120"/>
              </a:rPr>
              <a:t>up to 5 mutations · stops at first that advances</a:t>
            </a:r>
            <a:endParaRPr lang="en-US" sz="850" dirty="0"/>
          </a:p>
        </p:txBody>
      </p:sp>
      <p:sp>
        <p:nvSpPr>
          <p:cNvPr id="200" name="Text P3R3 bold"/>
          <p:cNvSpPr/>
          <p:nvPr/>
        </p:nvSpPr>
        <p:spPr>
          <a:xfrm>
            <a:off x="6345936" y="6382512"/>
            <a:ext cx="2322576" cy="201168"/>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Per entry point, independently evaluated</a:t>
            </a:r>
            <a:endParaRPr lang="en-US" sz="1050" dirty="0"/>
          </a:p>
        </p:txBody>
      </p:sp>
      <p:sp>
        <p:nvSpPr>
          <p:cNvPr id="201" name="Text P3R3 sub"/>
          <p:cNvSpPr/>
          <p:nvPr/>
        </p:nvSpPr>
        <p:spPr>
          <a:xfrm>
            <a:off x="6300216" y="6500000"/>
            <a:ext cx="2414016" cy="340000"/>
          </a:xfrm>
          <a:prstGeom prst="rect">
            <a:avLst/>
          </a:prstGeom>
          <a:noFill/>
          <a:ln/>
        </p:spPr>
        <p:txBody>
          <a:bodyPr wrap="square" lIns="0" tIns="0" rIns="0" bIns="0" rtlCol="0" anchor="ctr"/>
          <a:lstStyle/>
          <a:p>
            <a:pPr algn="ctr" indent="0" marL="0">
              <a:lnSpc>
                <a:spcPct val="100000"/>
              </a:lnSpc>
              <a:buNone/>
            </a:pPr>
            <a:r>
              <a:rPr lang="en-US" sz="850" dirty="0">
                <a:solidFill>
                  <a:srgbClr val="6B5D4F"/>
                </a:solidFill>
                <a:latin typeface="Calibri" pitchFamily="34" charset="0"/>
                <a:ea typeface="Calibri" pitchFamily="34" charset="-122"/>
                <a:cs typeface="Calibri" pitchFamily="34" charset="-120"/>
              </a:rPr>
              <a:t>each route / Lambda / function walked separately</a:t>
            </a:r>
            <a:endParaRPr lang="en-US" sz="850" dirty="0"/>
          </a:p>
          <a:p>
            <a:pPr algn="ctr" indent="0" marL="0">
              <a:lnSpc>
                <a:spcPct val="100000"/>
              </a:lnSpc>
              <a:spcBef>
                <a:spcPts val="150"/>
              </a:spcBef>
              <a:buNone/>
            </a:pPr>
            <a:r>
              <a:rPr lang="en-US" sz="775" i="1" dirty="0">
                <a:solidFill>
                  <a:srgbClr val="8F5A39"/>
                </a:solidFill>
                <a:latin typeface="Calibri" pitchFamily="34" charset="0"/>
              </a:rPr>
              <a:t>Demo run: 6 entry points · 24 attacks evaluated</a:t>
            </a:r>
            <a:endParaRPr lang="en-US" sz="775" dirty="0"/>
          </a:p>
        </p:txBody>
      </p:sp>
      <p:sp>
        <p:nvSpPr>
          <p:cNvPr id="69" name="Shape 64"/>
          <p:cNvSpPr/>
          <p:nvPr/>
        </p:nvSpPr>
        <p:spPr>
          <a:xfrm>
            <a:off x="9015984" y="3108960"/>
            <a:ext cx="2688336" cy="3657600"/>
          </a:xfrm>
          <a:prstGeom prst="rect">
            <a:avLst/>
          </a:prstGeom>
          <a:solidFill>
            <a:srgbClr val="FFFFFF"/>
          </a:solidFill>
          <a:ln w="12700">
            <a:solidFill>
              <a:srgbClr val="E4DBCB"/>
            </a:solidFill>
            <a:prstDash val="solid"/>
          </a:ln>
        </p:spPr>
        <p:txBody>
          <a:bodyPr/>
          <a:p/>
        </p:txBody>
      </p:sp>
      <p:sp>
        <p:nvSpPr>
          <p:cNvPr id="70" name="Shape 65"/>
          <p:cNvSpPr/>
          <p:nvPr/>
        </p:nvSpPr>
        <p:spPr>
          <a:xfrm>
            <a:off x="9015984" y="3108960"/>
            <a:ext cx="2688336" cy="73152"/>
          </a:xfrm>
          <a:prstGeom prst="rect">
            <a:avLst/>
          </a:prstGeom>
          <a:solidFill>
            <a:srgbClr val="5BA3CC"/>
          </a:solidFill>
          <a:ln w="12700">
            <a:solidFill>
              <a:srgbClr val="5BA3CC"/>
            </a:solidFill>
            <a:prstDash val="solid"/>
          </a:ln>
        </p:spPr>
        <p:txBody>
          <a:bodyPr/>
          <a:p/>
        </p:txBody>
      </p:sp>
      <p:sp>
        <p:nvSpPr>
          <p:cNvPr id="71" name="Text 66"/>
          <p:cNvSpPr/>
          <p:nvPr/>
        </p:nvSpPr>
        <p:spPr>
          <a:xfrm>
            <a:off x="9198864" y="3291840"/>
            <a:ext cx="1371600" cy="228600"/>
          </a:xfrm>
          <a:prstGeom prst="rect">
            <a:avLst/>
          </a:prstGeom>
          <a:noFill/>
          <a:ln/>
        </p:spPr>
        <p:txBody>
          <a:bodyPr wrap="square" lIns="0" tIns="0" rIns="0" bIns="0" rtlCol="0" anchor="ctr"/>
          <a:lstStyle/>
          <a:p>
            <a:pPr algn="l" indent="0" marL="0">
              <a:buNone/>
            </a:pPr>
            <a:r>
              <a:rPr lang="en-US" sz="1000" b="1" spc="300" kern="0" dirty="0">
                <a:solidFill>
                  <a:srgbClr val="5BA3CC"/>
                </a:solidFill>
                <a:latin typeface="Calibri" pitchFamily="34" charset="0"/>
                <a:ea typeface="Calibri" pitchFamily="34" charset="-122"/>
                <a:cs typeface="Calibri" pitchFamily="34" charset="-120"/>
              </a:rPr>
              <a:t>PART 04</a:t>
            </a:r>
            <a:endParaRPr lang="en-US" sz="1000" dirty="0"/>
          </a:p>
        </p:txBody>
      </p:sp>
      <p:pic>
        <p:nvPicPr>
          <p:cNvPr id="72" name="Image 3" descr="preencoded.png"/>
          <p:cNvPicPr>
            <a:picLocks noChangeAspect="1"/>
          </p:cNvPicPr>
          <p:nvPr/>
        </p:nvPicPr>
        <p:blipFill>
          <a:blip r:embed="rId4"/>
          <a:stretch>
            <a:fillRect/>
          </a:stretch>
        </p:blipFill>
        <p:spPr>
          <a:xfrm>
            <a:off x="11201400" y="3273552"/>
            <a:ext cx="320040" cy="320040"/>
          </a:xfrm>
          <a:prstGeom prst="rect">
            <a:avLst/>
          </a:prstGeom>
        </p:spPr>
      </p:pic>
      <p:sp>
        <p:nvSpPr>
          <p:cNvPr id="73" name="Text 67"/>
          <p:cNvSpPr/>
          <p:nvPr/>
        </p:nvSpPr>
        <p:spPr>
          <a:xfrm>
            <a:off x="9198864" y="3566160"/>
            <a:ext cx="2322576" cy="914400"/>
          </a:xfrm>
          <a:prstGeom prst="rect">
            <a:avLst/>
          </a:prstGeom>
          <a:noFill/>
          <a:ln/>
        </p:spPr>
        <p:txBody>
          <a:bodyPr wrap="square" lIns="0" tIns="0" rIns="0" bIns="0" rtlCol="0" anchor="ctr"/>
          <a:lstStyle/>
          <a:p>
            <a:pPr algn="l" indent="0" marL="0">
              <a:buNone/>
            </a:pPr>
            <a:r>
              <a:rPr lang="en-US" sz="5400" b="1" dirty="0">
                <a:solidFill>
                  <a:srgbClr val="000000"/>
                </a:solidFill>
                <a:latin typeface="Calibri" pitchFamily="34" charset="0"/>
                <a:ea typeface="Calibri" pitchFamily="34" charset="-122"/>
                <a:cs typeface="Calibri" pitchFamily="34" charset="-120"/>
              </a:rPr>
              <a:t>04</a:t>
            </a:r>
            <a:endParaRPr lang="en-US" sz="5400" dirty="0"/>
          </a:p>
        </p:txBody>
      </p:sp>
      <p:sp>
        <p:nvSpPr>
          <p:cNvPr id="74" name="Text 68"/>
          <p:cNvSpPr/>
          <p:nvPr/>
        </p:nvSpPr>
        <p:spPr>
          <a:xfrm>
            <a:off x="9198864" y="4434840"/>
            <a:ext cx="2322576" cy="320040"/>
          </a:xfrm>
          <a:prstGeom prst="rect">
            <a:avLst/>
          </a:prstGeom>
          <a:noFill/>
          <a:ln/>
        </p:spPr>
        <p:txBody>
          <a:bodyPr wrap="square" lIns="0" tIns="0" rIns="0" bIns="0" rtlCol="0" anchor="ctr"/>
          <a:lstStyle/>
          <a:p>
            <a:pPr algn="l" indent="0" marL="0">
              <a:buNone/>
            </a:pPr>
            <a:r>
              <a:rPr lang="en-US" sz="1700" b="1" dirty="0">
                <a:solidFill>
                  <a:srgbClr val="000000"/>
                </a:solidFill>
                <a:latin typeface="Calibri" pitchFamily="34" charset="0"/>
                <a:ea typeface="Calibri" pitchFamily="34" charset="-122"/>
                <a:cs typeface="Calibri" pitchFamily="34" charset="-120"/>
              </a:rPr>
              <a:t>One report</a:t>
            </a:r>
            <a:endParaRPr lang="en-US" sz="1700" dirty="0"/>
          </a:p>
        </p:txBody>
      </p:sp>
      <p:sp>
        <p:nvSpPr>
          <p:cNvPr id="75" name="Text 69"/>
          <p:cNvSpPr/>
          <p:nvPr/>
        </p:nvSpPr>
        <p:spPr>
          <a:xfrm>
            <a:off x="9198864" y="4754880"/>
            <a:ext cx="2322576" cy="502920"/>
          </a:xfrm>
          <a:prstGeom prst="rect">
            <a:avLst/>
          </a:prstGeom>
          <a:noFill/>
          <a:ln/>
        </p:spPr>
        <p:txBody>
          <a:bodyPr wrap="square" lIns="0" tIns="0" rIns="0" bIns="0" rtlCol="0" anchor="t"/>
          <a:lstStyle/>
          <a:p>
            <a:pPr algn="l" indent="0" marL="0">
              <a:buNone/>
            </a:pPr>
            <a:r>
              <a:rPr lang="en-US" sz="1000" i="1" dirty="0">
                <a:solidFill>
                  <a:srgbClr val="6B5D4F"/>
                </a:solidFill>
                <a:latin typeface="Calibri" pitchFamily="34" charset="0"/>
                <a:ea typeface="Calibri" pitchFamily="34" charset="-122"/>
                <a:cs typeface="Calibri" pitchFamily="34" charset="-120"/>
              </a:rPr>
              <a:t>every finding ranked,</a:t>
            </a:r>
            <a:endParaRPr lang="en-US" sz="1000" dirty="0"/>
          </a:p>
          <a:p>
            <a:pPr algn="l" indent="0" marL="0">
              <a:buNone/>
            </a:pPr>
            <a:r>
              <a:rPr lang="en-US" sz="1000" i="1" dirty="0">
                <a:solidFill>
                  <a:srgbClr val="6B5D4F"/>
                </a:solidFill>
                <a:latin typeface="Calibri" pitchFamily="34" charset="0"/>
                <a:ea typeface="Calibri" pitchFamily="34" charset="-122"/>
                <a:cs typeface="Calibri" pitchFamily="34" charset="-120"/>
              </a:rPr>
              <a:t>framework-tagged, deduped.</a:t>
            </a:r>
            <a:endParaRPr lang="en-US" sz="1000" dirty="0"/>
          </a:p>
        </p:txBody>
      </p:sp>
      <p:sp>
        <p:nvSpPr>
          <p:cNvPr id="76" name="Shape 70"/>
          <p:cNvSpPr/>
          <p:nvPr/>
        </p:nvSpPr>
        <p:spPr>
          <a:xfrm>
            <a:off x="9198864" y="5303520"/>
            <a:ext cx="2322576" cy="0"/>
          </a:xfrm>
          <a:prstGeom prst="line">
            <a:avLst/>
          </a:prstGeom>
          <a:noFill/>
          <a:ln w="12700">
            <a:solidFill>
              <a:srgbClr val="E4DBCB"/>
            </a:solidFill>
            <a:prstDash val="solid"/>
          </a:ln>
        </p:spPr>
        <p:txBody>
          <a:bodyPr/>
          <a:p/>
        </p:txBody>
      </p:sp>
      <p:sp>
        <p:nvSpPr>
          <p:cNvPr id="77" name="Text 71"/>
          <p:cNvSpPr/>
          <p:nvPr/>
        </p:nvSpPr>
        <p:spPr>
          <a:xfrm>
            <a:off x="9198864" y="5394960"/>
            <a:ext cx="2322576" cy="201168"/>
          </a:xfrm>
          <a:prstGeom prst="rect">
            <a:avLst/>
          </a:prstGeom>
          <a:noFill/>
          <a:ln/>
        </p:spPr>
        <p:txBody>
          <a:bodyPr wrap="square" lIns="0" tIns="0" rIns="0" bIns="0" rtlCol="0" anchor="ctr"/>
          <a:lstStyle/>
          <a:p>
            <a:pPr algn="ctr" indent="0" marL="0">
              <a:buNone/>
            </a:pPr>
            <a:r>
              <a:rPr lang="en-US" sz="900" b="1" spc="300" kern="0" dirty="0">
                <a:solidFill>
                  <a:srgbClr val="6B5D4F"/>
                </a:solidFill>
                <a:latin typeface="Calibri" pitchFamily="34" charset="0"/>
                <a:ea typeface="Calibri" pitchFamily="34" charset="-122"/>
                <a:cs typeface="Calibri" pitchFamily="34" charset="-120"/>
              </a:rPr>
              <a:t>REPORT FORMATS</a:t>
            </a:r>
            <a:endParaRPr lang="en-US" sz="900" dirty="0"/>
          </a:p>
        </p:txBody>
      </p:sp>
      <p:sp>
        <p:nvSpPr>
          <p:cNvPr id="78" name="Text 72"/>
          <p:cNvSpPr/>
          <p:nvPr/>
        </p:nvSpPr>
        <p:spPr>
          <a:xfrm>
            <a:off x="9198864" y="5650992"/>
            <a:ext cx="2322576" cy="201168"/>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HTML · Print HTML · Fix.md · Payloads.md</a:t>
            </a:r>
            <a:endParaRPr lang="en-US" sz="1050" dirty="0"/>
          </a:p>
        </p:txBody>
      </p:sp>
      <p:sp>
        <p:nvSpPr>
          <p:cNvPr id="79" name="Text 73"/>
          <p:cNvSpPr/>
          <p:nvPr/>
        </p:nvSpPr>
        <p:spPr>
          <a:xfrm>
            <a:off x="9153144" y="5815584"/>
            <a:ext cx="2414016" cy="274320"/>
          </a:xfrm>
          <a:prstGeom prst="rect">
            <a:avLst/>
          </a:prstGeom>
          <a:noFill/>
          <a:ln/>
        </p:spPr>
        <p:txBody>
          <a:bodyPr wrap="square" lIns="0" tIns="0" rIns="0" bIns="0" rtlCol="0" anchor="ctr"/>
          <a:lstStyle/>
          <a:p>
            <a:pPr algn="ctr" indent="0" marL="0">
              <a:buNone/>
            </a:pPr>
            <a:r>
              <a:rPr lang="en-US" sz="850" dirty="0">
                <a:solidFill>
                  <a:srgbClr val="6B5D4F"/>
                </a:solidFill>
                <a:latin typeface="Calibri" pitchFamily="34" charset="0"/>
                <a:ea typeface="Calibri" pitchFamily="34" charset="-122"/>
                <a:cs typeface="Calibri" pitchFamily="34" charset="-120"/>
              </a:rPr>
              <a:t/>
            </a:r>
            <a:endParaRPr lang="en-US" sz="850" dirty="0"/>
          </a:p>
        </p:txBody>
      </p:sp>
      <p:sp>
        <p:nvSpPr>
          <p:cNvPr id="80" name="Text 74"/>
          <p:cNvSpPr/>
          <p:nvPr/>
        </p:nvSpPr>
        <p:spPr>
          <a:xfrm>
            <a:off x="9198864" y="6016752"/>
            <a:ext cx="2322576" cy="201168"/>
          </a:xfrm>
          <a:prstGeom prst="rect">
            <a:avLst/>
          </a:prstGeom>
          <a:noFill/>
          <a:ln/>
        </p:spPr>
        <p:txBody>
          <a:bodyPr wrap="square" lIns="0" tIns="0" rIns="0" bIns="0" rtlCol="0" anchor="ctr"/>
          <a:lstStyle/>
          <a:p>
            <a:pPr algn="ctr" indent="0" marL="0">
              <a:buNone/>
            </a:pPr>
            <a:r>
              <a:rPr lang="en-US" sz="900" b="1" spc="150" kern="0" dirty="0">
                <a:solidFill>
                  <a:srgbClr val="6B5D4F"/>
                </a:solidFill>
                <a:latin typeface="Calibri" pitchFamily="34" charset="0"/>
                <a:ea typeface="Calibri" pitchFamily="34" charset="-122"/>
                <a:cs typeface="Calibri" pitchFamily="34" charset="-120"/>
              </a:rPr>
              <a:t>AI-READY OUTPUTS</a:t>
            </a:r>
            <a:endParaRPr lang="en-US" sz="900" dirty="0"/>
          </a:p>
        </p:txBody>
      </p:sp>
      <p:sp>
        <p:nvSpPr>
          <p:cNvPr id="81" name="Text 75"/>
          <p:cNvSpPr/>
          <p:nvPr/>
        </p:nvSpPr>
        <p:spPr>
          <a:xfrm>
            <a:off x="9153144" y="6230000"/>
            <a:ext cx="2414016" cy="560000"/>
          </a:xfrm>
          <a:prstGeom prst="rect">
            <a:avLst/>
          </a:prstGeom>
          <a:noFill/>
          <a:ln/>
        </p:spPr>
        <p:txBody>
          <a:bodyPr wrap="square" lIns="0" tIns="0" rIns="0" bIns="0" rtlCol="0" anchor="ctr"/>
          <a:lstStyle/>
          <a:p>
            <a:pPr algn="ctr" indent="0" marL="0">
              <a:lnSpc>
                <a:spcPct val="105000"/>
              </a:lnSpc>
              <a:buNone/>
            </a:pPr>
            <a:r>
              <a:rPr lang="en-US" sz="950" b="1" dirty="0">
                <a:solidFill>
                  <a:srgbClr val="1A1A1A"/>
                </a:solidFill>
                <a:latin typeface="Consolas" pitchFamily="49" charset="0"/>
              </a:rPr>
              <a:t>agentshield-findings-fix.md</a:t>
            </a:r>
            <a:endParaRPr lang="en-US" sz="950" dirty="0"/>
          </a:p>
          <a:p>
            <a:pPr algn="ctr" indent="0" marL="0">
              <a:lnSpc>
                <a:spcPct val="105000"/>
              </a:lnSpc>
              <a:spcBef>
                <a:spcPts val="150"/>
              </a:spcBef>
              <a:buNone/>
            </a:pPr>
            <a:r>
              <a:rPr lang="en-US" sz="950" b="1" dirty="0">
                <a:solidFill>
                  <a:srgbClr val="1A1A1A"/>
                </a:solidFill>
                <a:latin typeface="Consolas" pitchFamily="49" charset="0"/>
              </a:rPr>
              <a:t>agentshield-emulator-payloads.md</a:t>
            </a:r>
            <a:endParaRPr lang="en-US" sz="950" dirty="0"/>
          </a:p>
          <a:p>
            <a:pPr algn="ctr" indent="0" marL="0">
              <a:lnSpc>
                <a:spcPct val="100000"/>
              </a:lnSpc>
              <a:spcBef>
                <a:spcPts val="250"/>
              </a:spcBef>
              <a:buNone/>
            </a:pPr>
            <a:r>
              <a:rPr lang="en-US" sz="800" i="1" dirty="0">
                <a:solidFill>
                  <a:srgbClr val="6B5D4F"/>
                </a:solidFill>
                <a:latin typeface="Calibri" pitchFamily="34" charset="0"/>
              </a:rPr>
              <a:t>paste into Claude Code — severity-ordered</a:t>
            </a:r>
            <a:endParaRPr lang="en-US" sz="800" dirty="0"/>
          </a:p>
        </p:txBody>
      </p:sp>
      <p:sp>
        <p:nvSpPr>
          <p:cNvPr id="82" name="Text 76"/>
          <p:cNvSpPr/>
          <p:nvPr/>
        </p:nvSpPr>
        <p:spPr>
          <a:xfrm>
            <a:off x="3154680" y="4773168"/>
            <a:ext cx="146304" cy="329184"/>
          </a:xfrm>
          <a:prstGeom prst="rect">
            <a:avLst/>
          </a:prstGeom>
          <a:noFill/>
          <a:ln/>
        </p:spPr>
        <p:txBody>
          <a:bodyPr wrap="square" lIns="0" tIns="0" rIns="0" bIns="0" rtlCol="0" anchor="ctr"/>
          <a:lstStyle/>
          <a:p>
            <a:pPr algn="ctr" indent="0" marL="0">
              <a:buNone/>
            </a:pPr>
            <a:r>
              <a:rPr lang="en-US" sz="1800" b="1" dirty="0">
                <a:solidFill>
                  <a:srgbClr val="9C8F7E"/>
                </a:solidFill>
                <a:latin typeface="Calibri" pitchFamily="34" charset="0"/>
                <a:ea typeface="Calibri" pitchFamily="34" charset="-122"/>
                <a:cs typeface="Calibri" pitchFamily="34" charset="-120"/>
              </a:rPr>
              <a:t>&gt;</a:t>
            </a:r>
            <a:endParaRPr lang="en-US" sz="1800" dirty="0"/>
          </a:p>
        </p:txBody>
      </p:sp>
      <p:sp>
        <p:nvSpPr>
          <p:cNvPr id="83" name="Text 77"/>
          <p:cNvSpPr/>
          <p:nvPr/>
        </p:nvSpPr>
        <p:spPr>
          <a:xfrm>
            <a:off x="6007608" y="4773168"/>
            <a:ext cx="146304" cy="329184"/>
          </a:xfrm>
          <a:prstGeom prst="rect">
            <a:avLst/>
          </a:prstGeom>
          <a:noFill/>
          <a:ln/>
        </p:spPr>
        <p:txBody>
          <a:bodyPr wrap="square" lIns="0" tIns="0" rIns="0" bIns="0" rtlCol="0" anchor="ctr"/>
          <a:lstStyle/>
          <a:p>
            <a:pPr algn="ctr" indent="0" marL="0">
              <a:buNone/>
            </a:pPr>
            <a:r>
              <a:rPr lang="en-US" sz="1800" b="1" dirty="0">
                <a:solidFill>
                  <a:srgbClr val="9C8F7E"/>
                </a:solidFill>
                <a:latin typeface="Calibri" pitchFamily="34" charset="0"/>
                <a:ea typeface="Calibri" pitchFamily="34" charset="-122"/>
                <a:cs typeface="Calibri" pitchFamily="34" charset="-120"/>
              </a:rPr>
              <a:t>&gt;</a:t>
            </a:r>
            <a:endParaRPr lang="en-US" sz="1800" dirty="0"/>
          </a:p>
        </p:txBody>
      </p:sp>
      <p:sp>
        <p:nvSpPr>
          <p:cNvPr id="84" name="Text 78"/>
          <p:cNvSpPr/>
          <p:nvPr/>
        </p:nvSpPr>
        <p:spPr>
          <a:xfrm>
            <a:off x="8860536" y="4773168"/>
            <a:ext cx="146304" cy="329184"/>
          </a:xfrm>
          <a:prstGeom prst="rect">
            <a:avLst/>
          </a:prstGeom>
          <a:noFill/>
          <a:ln/>
        </p:spPr>
        <p:txBody>
          <a:bodyPr wrap="square" lIns="0" tIns="0" rIns="0" bIns="0" rtlCol="0" anchor="ctr"/>
          <a:lstStyle/>
          <a:p>
            <a:pPr algn="ctr" indent="0" marL="0">
              <a:buNone/>
            </a:pPr>
            <a:r>
              <a:rPr lang="en-US" sz="1800" b="1" dirty="0">
                <a:solidFill>
                  <a:srgbClr val="9C8F7E"/>
                </a:solidFill>
                <a:latin typeface="Calibri" pitchFamily="34" charset="0"/>
                <a:ea typeface="Calibri" pitchFamily="34" charset="-122"/>
                <a:cs typeface="Calibri" pitchFamily="34" charset="-120"/>
              </a:rPr>
              <a:t>&gt;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37744"/>
            <a:ext cx="11274552" cy="475488"/>
          </a:xfrm>
          <a:prstGeom prst="rect">
            <a:avLst/>
          </a:prstGeom>
          <a:noFill/>
          <a:ln/>
        </p:spPr>
        <p:txBody>
          <a:bodyPr wrap="square" lIns="0" tIns="0" rIns="0" bIns="0" rtlCol="0" anchor="ctr"/>
          <a:lstStyle/>
          <a:p>
            <a:pPr algn="l" indent="0" marL="0">
              <a:buNone/>
            </a:pPr>
            <a:r>
              <a:rPr lang="en-US" sz="2600" b="1" dirty="0">
                <a:solidFill>
                  <a:srgbClr val="000000"/>
                </a:solidFill>
                <a:latin typeface="Calibri" pitchFamily="34" charset="0"/>
                <a:ea typeface="Calibri" pitchFamily="34" charset="-122"/>
                <a:cs typeface="Calibri" pitchFamily="34" charset="-120"/>
              </a:rPr>
              <a:t>How AgentShield works</a:t>
            </a:r>
            <a:endParaRPr lang="en-US" sz="2600" dirty="0"/>
          </a:p>
        </p:txBody>
      </p:sp>
      <p:sp>
        <p:nvSpPr>
          <p:cNvPr id="3" name="Text 1"/>
          <p:cNvSpPr/>
          <p:nvPr/>
        </p:nvSpPr>
        <p:spPr>
          <a:xfrm>
            <a:off x="457200" y="731520"/>
            <a:ext cx="11274552" cy="292608"/>
          </a:xfrm>
          <a:prstGeom prst="rect">
            <a:avLst/>
          </a:prstGeom>
          <a:noFill/>
          <a:ln/>
        </p:spPr>
        <p:txBody>
          <a:bodyPr wrap="square" lIns="0" tIns="0" rIns="0" bIns="0" rtlCol="0" anchor="ctr"/>
          <a:lstStyle/>
          <a:p>
            <a:pPr algn="l" indent="0" marL="0">
              <a:buNone/>
            </a:pPr>
            <a:r>
              <a:rPr lang="en-US" sz="1500" i="1" dirty="0">
                <a:solidFill>
                  <a:srgbClr val="6B5D4F"/>
                </a:solidFill>
                <a:latin typeface="Calibri" pitchFamily="34" charset="0"/>
                <a:ea typeface="Calibri" pitchFamily="34" charset="-122"/>
                <a:cs typeface="Calibri" pitchFamily="34" charset="-120"/>
              </a:rPr>
              <a:t>Four sequential steps — each writes an artifact the next step reads.</a:t>
            </a:r>
            <a:endParaRPr lang="en-US" sz="1250" dirty="0"/>
          </a:p>
        </p:txBody>
      </p:sp>
      <p:sp>
        <p:nvSpPr>
          <p:cNvPr id="100" name="Card 100"/>
          <p:cNvSpPr/>
          <p:nvPr/>
        </p:nvSpPr>
        <p:spPr>
          <a:xfrm>
            <a:off x="1113000" y="3137501"/>
            <a:ext cx="2006000" cy="1724999"/>
          </a:xfrm>
          <a:prstGeom prst="roundRect">
            <a:avLst>
              <a:gd name="adj" fmla="val 5000"/>
            </a:avLst>
          </a:prstGeom>
          <a:solidFill>
            <a:srgbClr val="FFFFFF"/>
          </a:solidFill>
          <a:ln w="9525">
            <a:solidFill>
              <a:srgbClr val="E4DBCB"/>
            </a:solidFill>
            <a:prstDash val="solid"/>
          </a:ln>
          <a:effectLst>
            <a:outerShdw sx="100000" sy="100000" kx="0" ky="0" algn="bl" rotWithShape="0" blurRad="63500" dist="25400" dir="8100000">
              <a:srgbClr val="000000">
                <a:alpha val="10000"/>
              </a:srgbClr>
            </a:outerShdw>
          </a:effectLst>
        </p:spPr>
        <p:txBody>
          <a:bodyPr/>
          <a:p/>
        </p:txBody>
      </p:sp>
      <p:sp>
        <p:nvSpPr>
          <p:cNvPr id="101" name="A101"/>
          <p:cNvSpPr/>
          <p:nvPr/>
        </p:nvSpPr>
        <p:spPr>
          <a:xfrm>
            <a:off x="1113000" y="3137501"/>
            <a:ext cx="2006000" cy="64008"/>
          </a:xfrm>
          <a:prstGeom prst="rect">
            <a:avLst/>
          </a:prstGeom>
          <a:solidFill>
            <a:srgbClr val="5E3A24"/>
          </a:solidFill>
          <a:ln w="12700">
            <a:solidFill>
              <a:srgbClr val="5E3A24"/>
            </a:solidFill>
            <a:prstDash val="solid"/>
          </a:ln>
        </p:spPr>
        <p:txBody>
          <a:bodyPr/>
          <a:p/>
        </p:txBody>
      </p:sp>
      <p:sp>
        <p:nvSpPr>
          <p:cNvPr id="102" name="T102"/>
          <p:cNvSpPr/>
          <p:nvPr/>
        </p:nvSpPr>
        <p:spPr>
          <a:xfrm>
            <a:off x="1223000" y="3287501"/>
            <a:ext cx="1786000" cy="1524999"/>
          </a:xfrm>
          <a:prstGeom prst="rect">
            <a:avLst/>
          </a:prstGeom>
          <a:noFill/>
          <a:ln/>
        </p:spPr>
        <p:txBody>
          <a:bodyPr wrap="square" lIns="0" tIns="0" rIns="0" bIns="0" rtlCol="0" anchor="t"/>
          <a:lstStyle/>
          <a:p>
            <a:pPr indent="0" marL="0">
              <a:lnSpc>
                <a:spcPct val="110000"/>
              </a:lnSpc>
              <a:buNone/>
            </a:pPr>
            <a:r>
              <a:rPr lang="en-US" sz="1100" b="1" spc="200" dirty="0">
                <a:solidFill>
                  <a:srgbClr val="5E3A24"/>
                </a:solidFill>
                <a:latin typeface="Calibri" pitchFamily="34" charset="0"/>
              </a:rPr>
              <a:t>INPUT</a:t>
            </a:r>
            <a:endParaRPr lang="en-US" sz="900" dirty="0"/>
          </a:p>
          <a:p>
            <a:pPr indent="0" marL="0">
              <a:lnSpc>
                <a:spcPct val="110000"/>
              </a:lnSpc>
              <a:spcBef>
                <a:spcPts val="150"/>
              </a:spcBef>
              <a:buNone/>
            </a:pPr>
            <a:r>
              <a:rPr lang="en-US" sz="1500" b="1" dirty="0">
                <a:solidFill>
                  <a:srgbClr val="000000"/>
                </a:solidFill>
                <a:latin typeface="Calibri" pitchFamily="34" charset="0"/>
              </a:rPr>
              <a:t>Target repo</a:t>
            </a:r>
            <a:endParaRPr lang="en-US" sz="1300" dirty="0"/>
          </a:p>
          <a:p>
            <a:pPr indent="0" marL="0">
              <a:lnSpc>
                <a:spcPct val="110000"/>
              </a:lnSpc>
              <a:spcBef>
                <a:spcPts val="250"/>
              </a:spcBef>
              <a:buNone/>
            </a:pPr>
            <a:r>
              <a:rPr lang="en-US" sz="1100" dirty="0">
                <a:solidFill>
                  <a:srgbClr val="334155"/>
                </a:solidFill>
                <a:latin typeface="Calibri" pitchFamily="34" charset="0"/>
              </a:rPr>
              <a:t>code · manifests</a:t>
            </a:r>
            <a:endParaRPr lang="en-US" sz="850" dirty="0"/>
          </a:p>
          <a:p>
            <a:pPr indent="0" marL="0">
              <a:lnSpc>
                <a:spcPct val="110000"/>
              </a:lnSpc>
              <a:spcBef>
                <a:spcPts val="80"/>
              </a:spcBef>
              <a:buNone/>
            </a:pPr>
            <a:r>
              <a:rPr lang="en-US" sz="1100" dirty="0">
                <a:solidFill>
                  <a:srgbClr val="334155"/>
                </a:solidFill>
                <a:latin typeface="Calibri" pitchFamily="34" charset="0"/>
              </a:rPr>
              <a:t>configs · tools</a:t>
            </a:r>
            <a:endParaRPr lang="en-US" sz="850" dirty="0"/>
          </a:p>
        </p:txBody>
      </p:sp>
      <p:sp>
        <p:nvSpPr>
          <p:cNvPr id="103" name="Card 103"/>
          <p:cNvSpPr/>
          <p:nvPr/>
        </p:nvSpPr>
        <p:spPr>
          <a:xfrm>
            <a:off x="6653000" y="3137501"/>
            <a:ext cx="2006000" cy="1724999"/>
          </a:xfrm>
          <a:prstGeom prst="roundRect">
            <a:avLst>
              <a:gd name="adj" fmla="val 5000"/>
            </a:avLst>
          </a:prstGeom>
          <a:solidFill>
            <a:srgbClr val="FFFFFF"/>
          </a:solidFill>
          <a:ln w="9525">
            <a:solidFill>
              <a:srgbClr val="E4DBCB"/>
            </a:solidFill>
            <a:prstDash val="solid"/>
          </a:ln>
          <a:effectLst>
            <a:outerShdw sx="100000" sy="100000" kx="0" ky="0" algn="bl" rotWithShape="0" blurRad="63500" dist="25400" dir="8100000">
              <a:srgbClr val="000000">
                <a:alpha val="10000"/>
              </a:srgbClr>
            </a:outerShdw>
          </a:effectLst>
        </p:spPr>
        <p:txBody>
          <a:bodyPr/>
          <a:p/>
        </p:txBody>
      </p:sp>
      <p:sp>
        <p:nvSpPr>
          <p:cNvPr id="104" name="A104"/>
          <p:cNvSpPr/>
          <p:nvPr/>
        </p:nvSpPr>
        <p:spPr>
          <a:xfrm>
            <a:off x="6653000" y="3137501"/>
            <a:ext cx="2006000" cy="64008"/>
          </a:xfrm>
          <a:prstGeom prst="rect">
            <a:avLst/>
          </a:prstGeom>
          <a:solidFill>
            <a:srgbClr val="4A7FA7"/>
          </a:solidFill>
          <a:ln w="12700">
            <a:solidFill>
              <a:srgbClr val="4A7FA7"/>
            </a:solidFill>
            <a:prstDash val="solid"/>
          </a:ln>
        </p:spPr>
        <p:txBody>
          <a:bodyPr/>
          <a:p/>
        </p:txBody>
      </p:sp>
      <p:sp>
        <p:nvSpPr>
          <p:cNvPr id="105" name="T105"/>
          <p:cNvSpPr/>
          <p:nvPr/>
        </p:nvSpPr>
        <p:spPr>
          <a:xfrm>
            <a:off x="6763000" y="3287501"/>
            <a:ext cx="1786000" cy="1524999"/>
          </a:xfrm>
          <a:prstGeom prst="rect">
            <a:avLst/>
          </a:prstGeom>
          <a:noFill/>
          <a:ln/>
        </p:spPr>
        <p:txBody>
          <a:bodyPr wrap="square" lIns="0" tIns="0" rIns="0" bIns="0" rtlCol="0" anchor="t"/>
          <a:lstStyle/>
          <a:p>
            <a:pPr indent="0" marL="0">
              <a:lnSpc>
                <a:spcPct val="110000"/>
              </a:lnSpc>
              <a:buNone/>
            </a:pPr>
            <a:r>
              <a:rPr lang="en-US" sz="1100" b="1" spc="200" dirty="0">
                <a:solidFill>
                  <a:srgbClr val="4A7FA7"/>
                </a:solidFill>
                <a:latin typeface="Calibri" pitchFamily="34" charset="0"/>
              </a:rPr>
              <a:t>MERGE</a:t>
            </a:r>
            <a:endParaRPr lang="en-US" sz="900" dirty="0"/>
          </a:p>
          <a:p>
            <a:pPr indent="0" marL="0">
              <a:lnSpc>
                <a:spcPct val="110000"/>
              </a:lnSpc>
              <a:spcBef>
                <a:spcPts val="150"/>
              </a:spcBef>
              <a:buNone/>
            </a:pPr>
            <a:r>
              <a:rPr lang="en-US" sz="1500" b="1" dirty="0">
                <a:solidFill>
                  <a:srgbClr val="000000"/>
                </a:solidFill>
                <a:latin typeface="Calibri" pitchFamily="34" charset="0"/>
              </a:rPr>
              <a:t>Unify &amp; rank</a:t>
            </a:r>
            <a:endParaRPr lang="en-US" sz="1300" dirty="0"/>
          </a:p>
          <a:p>
            <a:pPr indent="0" marL="0">
              <a:lnSpc>
                <a:spcPct val="110000"/>
              </a:lnSpc>
              <a:spcBef>
                <a:spcPts val="200"/>
              </a:spcBef>
              <a:buNone/>
            </a:pPr>
            <a:r>
              <a:rPr lang="en-US" sz="1000" i="1" dirty="0">
                <a:solidFill>
                  <a:srgbClr val="6B5D4F"/>
                </a:solidFill>
                <a:latin typeface="Calibri" pitchFamily="34" charset="0"/>
              </a:rPr>
              <a:t>CLI</a:t>
            </a:r>
            <a:endParaRPr lang="en-US" sz="800" dirty="0"/>
          </a:p>
          <a:p>
            <a:pPr indent="0" marL="0">
              <a:lnSpc>
                <a:spcPct val="110000"/>
              </a:lnSpc>
              <a:spcBef>
                <a:spcPts val="200"/>
              </a:spcBef>
              <a:buNone/>
            </a:pPr>
            <a:r>
              <a:rPr lang="en-US" sz="1100" b="1" dirty="0">
                <a:solidFill>
                  <a:srgbClr val="1A1A1A"/>
                </a:solidFill>
                <a:latin typeface="Consolas" pitchFamily="34" charset="0"/>
              </a:rPr>
              <a:t>agentshield merge &lt;path&gt;</a:t>
            </a:r>
            <a:endParaRPr lang="en-US" sz="900" dirty="0"/>
          </a:p>
          <a:p>
            <a:pPr indent="0" marL="0">
              <a:lnSpc>
                <a:spcPct val="110000"/>
              </a:lnSpc>
              <a:spcBef>
                <a:spcPts val="250"/>
              </a:spcBef>
              <a:buNone/>
            </a:pPr>
            <a:r>
              <a:rPr lang="en-US" sz="1100" dirty="0">
                <a:solidFill>
                  <a:srgbClr val="334155"/>
                </a:solidFill>
                <a:latin typeface="Calibri" pitchFamily="34" charset="0"/>
              </a:rPr>
              <a:t>Reads all 3 JSONs</a:t>
            </a:r>
            <a:endParaRPr lang="en-US" sz="850" dirty="0"/>
          </a:p>
          <a:p>
            <a:pPr indent="0" marL="0">
              <a:lnSpc>
                <a:spcPct val="110000"/>
              </a:lnSpc>
              <a:spcBef>
                <a:spcPts val="80"/>
              </a:spcBef>
              <a:buNone/>
            </a:pPr>
            <a:r>
              <a:rPr lang="en-US" sz="1100" dirty="0">
                <a:solidFill>
                  <a:srgbClr val="334155"/>
                </a:solidFill>
                <a:latin typeface="Calibri" pitchFamily="34" charset="0"/>
              </a:rPr>
              <a:t>Dedupe · D/D/R sort</a:t>
            </a:r>
            <a:endParaRPr lang="en-US" sz="850" dirty="0"/>
          </a:p>
        </p:txBody>
      </p:sp>
      <p:sp>
        <p:nvSpPr>
          <p:cNvPr id="106" name="Card 106"/>
          <p:cNvSpPr/>
          <p:nvPr/>
        </p:nvSpPr>
        <p:spPr>
          <a:xfrm>
            <a:off x="9073000" y="3137501"/>
            <a:ext cx="2006000" cy="1724999"/>
          </a:xfrm>
          <a:prstGeom prst="roundRect">
            <a:avLst>
              <a:gd name="adj" fmla="val 5000"/>
            </a:avLst>
          </a:prstGeom>
          <a:solidFill>
            <a:srgbClr val="FFFFFF"/>
          </a:solidFill>
          <a:ln w="9525">
            <a:solidFill>
              <a:srgbClr val="E4DBCB"/>
            </a:solidFill>
            <a:prstDash val="solid"/>
          </a:ln>
          <a:effectLst>
            <a:outerShdw sx="100000" sy="100000" kx="0" ky="0" algn="bl" rotWithShape="0" blurRad="63500" dist="25400" dir="8100000">
              <a:srgbClr val="000000">
                <a:alpha val="10000"/>
              </a:srgbClr>
            </a:outerShdw>
          </a:effectLst>
        </p:spPr>
        <p:txBody>
          <a:bodyPr/>
          <a:p/>
        </p:txBody>
      </p:sp>
      <p:sp>
        <p:nvSpPr>
          <p:cNvPr id="107" name="A107"/>
          <p:cNvSpPr/>
          <p:nvPr/>
        </p:nvSpPr>
        <p:spPr>
          <a:xfrm>
            <a:off x="9073000" y="3137501"/>
            <a:ext cx="2006000" cy="64008"/>
          </a:xfrm>
          <a:prstGeom prst="rect">
            <a:avLst/>
          </a:prstGeom>
          <a:solidFill>
            <a:srgbClr val="5E3A24"/>
          </a:solidFill>
          <a:ln w="12700">
            <a:solidFill>
              <a:srgbClr val="5E3A24"/>
            </a:solidFill>
            <a:prstDash val="solid"/>
          </a:ln>
        </p:spPr>
        <p:txBody>
          <a:bodyPr/>
          <a:p/>
        </p:txBody>
      </p:sp>
      <p:sp>
        <p:nvSpPr>
          <p:cNvPr id="108" name="T108"/>
          <p:cNvSpPr/>
          <p:nvPr/>
        </p:nvSpPr>
        <p:spPr>
          <a:xfrm>
            <a:off x="9183000" y="3287501"/>
            <a:ext cx="1786000" cy="1524999"/>
          </a:xfrm>
          <a:prstGeom prst="rect">
            <a:avLst/>
          </a:prstGeom>
          <a:noFill/>
          <a:ln/>
        </p:spPr>
        <p:txBody>
          <a:bodyPr wrap="square" lIns="0" tIns="0" rIns="0" bIns="0" rtlCol="0" anchor="t"/>
          <a:lstStyle/>
          <a:p>
            <a:pPr indent="0" marL="0">
              <a:lnSpc>
                <a:spcPct val="110000"/>
              </a:lnSpc>
              <a:buNone/>
            </a:pPr>
            <a:r>
              <a:rPr lang="en-US" sz="1100" b="1" spc="200" dirty="0">
                <a:solidFill>
                  <a:srgbClr val="5E3A24"/>
                </a:solidFill>
                <a:latin typeface="Calibri" pitchFamily="34" charset="0"/>
              </a:rPr>
              <a:t>OUTPUT</a:t>
            </a:r>
            <a:endParaRPr lang="en-US" sz="900" dirty="0"/>
          </a:p>
          <a:p>
            <a:pPr indent="0" marL="0">
              <a:lnSpc>
                <a:spcPct val="110000"/>
              </a:lnSpc>
              <a:spcBef>
                <a:spcPts val="150"/>
              </a:spcBef>
              <a:buNone/>
            </a:pPr>
            <a:r>
              <a:rPr lang="en-US" sz="1500" b="1" dirty="0">
                <a:solidFill>
                  <a:srgbClr val="000000"/>
                </a:solidFill>
                <a:latin typeface="Calibri" pitchFamily="34" charset="0"/>
              </a:rPr>
              <a:t>Unified report</a:t>
            </a:r>
            <a:endParaRPr lang="en-US" sz="1300" dirty="0"/>
          </a:p>
          <a:p>
            <a:pPr indent="0" marL="0">
              <a:lnSpc>
                <a:spcPct val="110000"/>
              </a:lnSpc>
              <a:spcBef>
                <a:spcPts val="200"/>
              </a:spcBef>
              <a:buNone/>
            </a:pPr>
            <a:r>
              <a:rPr lang="en-US" sz="1000" i="1" dirty="0">
                <a:solidFill>
                  <a:srgbClr val="6B5D4F"/>
                </a:solidFill>
                <a:latin typeface="Calibri" pitchFamily="34" charset="0"/>
              </a:rPr>
              <a:t>ranked · framework-tagged</a:t>
            </a:r>
            <a:endParaRPr lang="en-US" sz="800" dirty="0"/>
          </a:p>
          <a:p>
            <a:pPr indent="0" marL="0">
              <a:lnSpc>
                <a:spcPct val="110000"/>
              </a:lnSpc>
              <a:spcBef>
                <a:spcPts val="250"/>
              </a:spcBef>
              <a:buNone/>
            </a:pPr>
            <a:r>
              <a:rPr lang="en-US" sz="1100" dirty="0">
                <a:solidFill>
                  <a:srgbClr val="334155"/>
                </a:solidFill>
                <a:latin typeface="Calibri" pitchFamily="34" charset="0"/>
              </a:rPr>
              <a:t>HTML · Print HTML</a:t>
            </a:r>
            <a:endParaRPr lang="en-US" sz="850" dirty="0"/>
          </a:p>
          <a:p>
            <a:pPr indent="0" marL="0">
              <a:lnSpc>
                <a:spcPct val="110000"/>
              </a:lnSpc>
              <a:spcBef>
                <a:spcPts val="80"/>
              </a:spcBef>
              <a:buNone/>
            </a:pPr>
            <a:r>
              <a:rPr lang="en-US" sz="1100" dirty="0">
                <a:solidFill>
                  <a:srgbClr val="334155"/>
                </a:solidFill>
                <a:latin typeface="Calibri" pitchFamily="34" charset="0"/>
              </a:rPr>
              <a:t>Fix.md · Payloads.md</a:t>
            </a:r>
            <a:endParaRPr lang="en-US" sz="850" dirty="0"/>
          </a:p>
        </p:txBody>
      </p:sp>
      <p:sp>
        <p:nvSpPr>
          <p:cNvPr id="109" name="Card 109"/>
          <p:cNvSpPr/>
          <p:nvPr/>
        </p:nvSpPr>
        <p:spPr>
          <a:xfrm>
            <a:off x="3470000" y="1200000"/>
            <a:ext cx="2832000" cy="1669333"/>
          </a:xfrm>
          <a:prstGeom prst="roundRect">
            <a:avLst>
              <a:gd name="adj" fmla="val 5000"/>
            </a:avLst>
          </a:prstGeom>
          <a:solidFill>
            <a:srgbClr val="FFFFFF"/>
          </a:solidFill>
          <a:ln w="9525">
            <a:solidFill>
              <a:srgbClr val="E4DBCB"/>
            </a:solidFill>
            <a:prstDash val="solid"/>
          </a:ln>
          <a:effectLst>
            <a:outerShdw sx="100000" sy="100000" kx="0" ky="0" algn="bl" rotWithShape="0" blurRad="63500" dist="25400" dir="8100000">
              <a:srgbClr val="000000">
                <a:alpha val="10000"/>
              </a:srgbClr>
            </a:outerShdw>
          </a:effectLst>
        </p:spPr>
        <p:txBody>
          <a:bodyPr/>
          <a:p/>
        </p:txBody>
      </p:sp>
      <p:sp>
        <p:nvSpPr>
          <p:cNvPr id="110" name="A110"/>
          <p:cNvSpPr/>
          <p:nvPr/>
        </p:nvSpPr>
        <p:spPr>
          <a:xfrm>
            <a:off x="3470000" y="1200000"/>
            <a:ext cx="2832000" cy="64008"/>
          </a:xfrm>
          <a:prstGeom prst="rect">
            <a:avLst/>
          </a:prstGeom>
          <a:solidFill>
            <a:srgbClr val="5E3A24"/>
          </a:solidFill>
          <a:ln w="12700">
            <a:solidFill>
              <a:srgbClr val="5E3A24"/>
            </a:solidFill>
            <a:prstDash val="solid"/>
          </a:ln>
        </p:spPr>
        <p:txBody>
          <a:bodyPr/>
          <a:p/>
        </p:txBody>
      </p:sp>
      <p:sp>
        <p:nvSpPr>
          <p:cNvPr id="111" name="T111"/>
          <p:cNvSpPr/>
          <p:nvPr/>
        </p:nvSpPr>
        <p:spPr>
          <a:xfrm>
            <a:off x="3580000" y="1350000"/>
            <a:ext cx="2612000" cy="1469333"/>
          </a:xfrm>
          <a:prstGeom prst="rect">
            <a:avLst/>
          </a:prstGeom>
          <a:noFill/>
          <a:ln/>
        </p:spPr>
        <p:txBody>
          <a:bodyPr wrap="square" lIns="0" tIns="0" rIns="0" bIns="0" rtlCol="0" anchor="t"/>
          <a:lstStyle/>
          <a:p>
            <a:pPr indent="0" marL="0">
              <a:lnSpc>
                <a:spcPct val="110000"/>
              </a:lnSpc>
              <a:buNone/>
            </a:pPr>
            <a:r>
              <a:rPr lang="en-US" sz="1100" b="1" spc="200" dirty="0">
                <a:solidFill>
                  <a:srgbClr val="5E3A24"/>
                </a:solidFill>
                <a:latin typeface="Calibri" pitchFamily="34" charset="0"/>
              </a:rPr>
              <a:t>PHASE 1 · TIER 1</a:t>
            </a:r>
            <a:endParaRPr lang="en-US" sz="900" dirty="0"/>
          </a:p>
          <a:p>
            <a:pPr indent="0" marL="0">
              <a:lnSpc>
                <a:spcPct val="110000"/>
              </a:lnSpc>
              <a:spcBef>
                <a:spcPts val="150"/>
              </a:spcBef>
              <a:buNone/>
            </a:pPr>
            <a:r>
              <a:rPr lang="en-US" sz="1500" b="1" dirty="0">
                <a:solidFill>
                  <a:srgbClr val="000000"/>
                </a:solidFill>
                <a:latin typeface="Calibri" pitchFamily="34" charset="0"/>
              </a:rPr>
              <a:t>Static rules</a:t>
            </a:r>
            <a:endParaRPr lang="en-US" sz="1300" dirty="0"/>
          </a:p>
          <a:p>
            <a:pPr indent="0" marL="0">
              <a:lnSpc>
                <a:spcPct val="110000"/>
              </a:lnSpc>
              <a:spcBef>
                <a:spcPts val="200"/>
              </a:spcBef>
              <a:buNone/>
            </a:pPr>
            <a:r>
              <a:rPr lang="en-US" sz="1000" i="1" dirty="0">
                <a:solidFill>
                  <a:srgbClr val="6B5D4F"/>
                </a:solidFill>
                <a:latin typeface="Calibri" pitchFamily="34" charset="0"/>
              </a:rPr>
              <a:t>CLI</a:t>
            </a:r>
            <a:endParaRPr lang="en-US" sz="800" dirty="0"/>
          </a:p>
          <a:p>
            <a:pPr indent="0" marL="0">
              <a:lnSpc>
                <a:spcPct val="110000"/>
              </a:lnSpc>
              <a:spcBef>
                <a:spcPts val="200"/>
              </a:spcBef>
              <a:buNone/>
            </a:pPr>
            <a:r>
              <a:rPr lang="en-US" sz="1100" b="1" dirty="0">
                <a:solidFill>
                  <a:srgbClr val="1A1A1A"/>
                </a:solidFill>
                <a:latin typeface="Consolas" pitchFamily="34" charset="0"/>
              </a:rPr>
              <a:t>agentshield scan &lt;path&gt;</a:t>
            </a:r>
            <a:endParaRPr lang="en-US" sz="900" dirty="0"/>
          </a:p>
          <a:p>
            <a:pPr indent="0" marL="0">
              <a:lnSpc>
                <a:spcPct val="110000"/>
              </a:lnSpc>
              <a:spcBef>
                <a:spcPts val="250"/>
              </a:spcBef>
              <a:buNone/>
            </a:pPr>
            <a:r>
              <a:rPr lang="en-US" sz="1100" dirty="0">
                <a:solidFill>
                  <a:srgbClr val="334155"/>
                </a:solidFill>
                <a:latin typeface="Calibri" pitchFamily="34" charset="0"/>
              </a:rPr>
              <a:t>Semgrep — 19 rules · Manifest — 12 rules</a:t>
            </a:r>
            <a:endParaRPr lang="en-US" sz="850" dirty="0"/>
          </a:p>
          <a:p>
            <a:pPr indent="0" marL="0">
              <a:lnSpc>
                <a:spcPct val="110000"/>
              </a:lnSpc>
              <a:spcBef>
                <a:spcPts val="300"/>
              </a:spcBef>
              <a:buNone/>
            </a:pPr>
            <a:r>
              <a:rPr lang="en-US" sz="1000" i="1" dirty="0">
                <a:solidFill>
                  <a:srgbClr val="8F5A39"/>
                </a:solidFill>
                <a:latin typeface="Calibri" pitchFamily="34" charset="0"/>
              </a:rPr>
              <a:t>writes</a:t>
            </a:r>
            <a:endParaRPr lang="en-US" sz="750" dirty="0"/>
          </a:p>
          <a:p>
            <a:pPr indent="0" marL="0">
              <a:lnSpc>
                <a:spcPct val="110000"/>
              </a:lnSpc>
              <a:spcBef>
                <a:spcPts val="60"/>
              </a:spcBef>
              <a:buNone/>
            </a:pPr>
            <a:r>
              <a:rPr lang="en-US" sz="1100" b="1" dirty="0">
                <a:solidFill>
                  <a:srgbClr val="1A1A1A"/>
                </a:solidFill>
                <a:latin typeface="Consolas" pitchFamily="34" charset="0"/>
              </a:rPr>
              <a:t>tier1-results.json</a:t>
            </a:r>
            <a:endParaRPr lang="en-US" sz="850" dirty="0"/>
          </a:p>
        </p:txBody>
      </p:sp>
      <p:sp>
        <p:nvSpPr>
          <p:cNvPr id="112" name="Card 112"/>
          <p:cNvSpPr/>
          <p:nvPr/>
        </p:nvSpPr>
        <p:spPr>
          <a:xfrm>
            <a:off x="3470000" y="3019333"/>
            <a:ext cx="2832000" cy="1669333"/>
          </a:xfrm>
          <a:prstGeom prst="roundRect">
            <a:avLst>
              <a:gd name="adj" fmla="val 5000"/>
            </a:avLst>
          </a:prstGeom>
          <a:solidFill>
            <a:srgbClr val="FFFFFF"/>
          </a:solidFill>
          <a:ln w="9525">
            <a:solidFill>
              <a:srgbClr val="E4DBCB"/>
            </a:solidFill>
            <a:prstDash val="solid"/>
          </a:ln>
          <a:effectLst>
            <a:outerShdw sx="100000" sy="100000" kx="0" ky="0" algn="bl" rotWithShape="0" blurRad="63500" dist="25400" dir="8100000">
              <a:srgbClr val="000000">
                <a:alpha val="10000"/>
              </a:srgbClr>
            </a:outerShdw>
          </a:effectLst>
        </p:spPr>
        <p:txBody>
          <a:bodyPr/>
          <a:p/>
        </p:txBody>
      </p:sp>
      <p:sp>
        <p:nvSpPr>
          <p:cNvPr id="113" name="A113"/>
          <p:cNvSpPr/>
          <p:nvPr/>
        </p:nvSpPr>
        <p:spPr>
          <a:xfrm>
            <a:off x="3470000" y="3019333"/>
            <a:ext cx="2832000" cy="64008"/>
          </a:xfrm>
          <a:prstGeom prst="rect">
            <a:avLst/>
          </a:prstGeom>
          <a:solidFill>
            <a:srgbClr val="5E3A24"/>
          </a:solidFill>
          <a:ln w="12700">
            <a:solidFill>
              <a:srgbClr val="5E3A24"/>
            </a:solidFill>
            <a:prstDash val="solid"/>
          </a:ln>
        </p:spPr>
        <p:txBody>
          <a:bodyPr/>
          <a:p/>
        </p:txBody>
      </p:sp>
      <p:sp>
        <p:nvSpPr>
          <p:cNvPr id="114" name="T114"/>
          <p:cNvSpPr/>
          <p:nvPr/>
        </p:nvSpPr>
        <p:spPr>
          <a:xfrm>
            <a:off x="3580000" y="3169333"/>
            <a:ext cx="2612000" cy="1469333"/>
          </a:xfrm>
          <a:prstGeom prst="rect">
            <a:avLst/>
          </a:prstGeom>
          <a:noFill/>
          <a:ln/>
        </p:spPr>
        <p:txBody>
          <a:bodyPr wrap="square" lIns="0" tIns="0" rIns="0" bIns="0" rtlCol="0" anchor="t"/>
          <a:lstStyle/>
          <a:p>
            <a:pPr indent="0" marL="0">
              <a:lnSpc>
                <a:spcPct val="110000"/>
              </a:lnSpc>
              <a:buNone/>
            </a:pPr>
            <a:r>
              <a:rPr lang="en-US" sz="1100" b="1" spc="200" dirty="0">
                <a:solidFill>
                  <a:srgbClr val="5E3A24"/>
                </a:solidFill>
                <a:latin typeface="Calibri" pitchFamily="34" charset="0"/>
              </a:rPr>
              <a:t>PHASE 1 · TIER 2</a:t>
            </a:r>
            <a:endParaRPr lang="en-US" sz="900" dirty="0"/>
          </a:p>
          <a:p>
            <a:pPr indent="0" marL="0">
              <a:lnSpc>
                <a:spcPct val="110000"/>
              </a:lnSpc>
              <a:spcBef>
                <a:spcPts val="150"/>
              </a:spcBef>
              <a:buNone/>
            </a:pPr>
            <a:r>
              <a:rPr lang="en-US" sz="1500" b="1" dirty="0">
                <a:solidFill>
                  <a:srgbClr val="000000"/>
                </a:solidFill>
                <a:latin typeface="Calibri" pitchFamily="34" charset="0"/>
              </a:rPr>
              <a:t>LLM-as-judge</a:t>
            </a:r>
            <a:endParaRPr lang="en-US" sz="1300" dirty="0"/>
          </a:p>
          <a:p>
            <a:pPr indent="0" marL="0">
              <a:lnSpc>
                <a:spcPct val="110000"/>
              </a:lnSpc>
              <a:spcBef>
                <a:spcPts val="200"/>
              </a:spcBef>
              <a:buNone/>
            </a:pPr>
            <a:r>
              <a:rPr lang="en-US" sz="1000" i="1" dirty="0">
                <a:solidFill>
                  <a:srgbClr val="6B5D4F"/>
                </a:solidFill>
                <a:latin typeface="Calibri" pitchFamily="34" charset="0"/>
              </a:rPr>
              <a:t>IDE · Copilot Chat</a:t>
            </a:r>
            <a:endParaRPr lang="en-US" sz="800" dirty="0"/>
          </a:p>
          <a:p>
            <a:pPr indent="0" marL="0">
              <a:lnSpc>
                <a:spcPct val="110000"/>
              </a:lnSpc>
              <a:spcBef>
                <a:spcPts val="250"/>
              </a:spcBef>
              <a:buNone/>
            </a:pPr>
            <a:r>
              <a:rPr lang="en-US" sz="1100" dirty="0">
                <a:solidFill>
                  <a:srgbClr val="334155"/>
                </a:solidFill>
                <a:latin typeface="Calibri" pitchFamily="34" charset="0"/>
              </a:rPr>
              <a:t>68 checks · full file context · SAIGE tier classify</a:t>
            </a:r>
            <a:endParaRPr lang="en-US" sz="850" dirty="0"/>
          </a:p>
          <a:p>
            <a:pPr indent="0" marL="0">
              <a:lnSpc>
                <a:spcPct val="110000"/>
              </a:lnSpc>
              <a:spcBef>
                <a:spcPts val="300"/>
              </a:spcBef>
              <a:buNone/>
            </a:pPr>
            <a:r>
              <a:rPr lang="en-US" sz="1000" i="1" dirty="0">
                <a:solidFill>
                  <a:srgbClr val="8F5A39"/>
                </a:solidFill>
                <a:latin typeface="Calibri" pitchFamily="34" charset="0"/>
              </a:rPr>
              <a:t>writes</a:t>
            </a:r>
            <a:endParaRPr lang="en-US" sz="750" dirty="0"/>
          </a:p>
          <a:p>
            <a:pPr indent="0" marL="0">
              <a:lnSpc>
                <a:spcPct val="110000"/>
              </a:lnSpc>
              <a:spcBef>
                <a:spcPts val="60"/>
              </a:spcBef>
              <a:buNone/>
            </a:pPr>
            <a:r>
              <a:rPr lang="en-US" sz="1100" b="1" dirty="0">
                <a:solidFill>
                  <a:srgbClr val="1A1A1A"/>
                </a:solidFill>
                <a:latin typeface="Consolas" pitchFamily="34" charset="0"/>
              </a:rPr>
              <a:t>tier2-findings.json</a:t>
            </a:r>
            <a:endParaRPr lang="en-US" sz="850" dirty="0"/>
          </a:p>
        </p:txBody>
      </p:sp>
      <p:sp>
        <p:nvSpPr>
          <p:cNvPr id="115" name="Card 115"/>
          <p:cNvSpPr/>
          <p:nvPr/>
        </p:nvSpPr>
        <p:spPr>
          <a:xfrm>
            <a:off x="3470000" y="4838666"/>
            <a:ext cx="2832000" cy="1669333"/>
          </a:xfrm>
          <a:prstGeom prst="roundRect">
            <a:avLst>
              <a:gd name="adj" fmla="val 5000"/>
            </a:avLst>
          </a:prstGeom>
          <a:solidFill>
            <a:srgbClr val="FFFFFF"/>
          </a:solidFill>
          <a:ln w="9525">
            <a:solidFill>
              <a:srgbClr val="E4DBCB"/>
            </a:solidFill>
            <a:prstDash val="solid"/>
          </a:ln>
          <a:effectLst>
            <a:outerShdw sx="100000" sy="100000" kx="0" ky="0" algn="bl" rotWithShape="0" blurRad="63500" dist="25400" dir="8100000">
              <a:srgbClr val="000000">
                <a:alpha val="10000"/>
              </a:srgbClr>
            </a:outerShdw>
          </a:effectLst>
        </p:spPr>
        <p:txBody>
          <a:bodyPr/>
          <a:p/>
        </p:txBody>
      </p:sp>
      <p:sp>
        <p:nvSpPr>
          <p:cNvPr id="116" name="A116"/>
          <p:cNvSpPr/>
          <p:nvPr/>
        </p:nvSpPr>
        <p:spPr>
          <a:xfrm>
            <a:off x="3470000" y="4838666"/>
            <a:ext cx="2832000" cy="64008"/>
          </a:xfrm>
          <a:prstGeom prst="rect">
            <a:avLst/>
          </a:prstGeom>
          <a:solidFill>
            <a:srgbClr val="5E3A24"/>
          </a:solidFill>
          <a:ln w="12700">
            <a:solidFill>
              <a:srgbClr val="5E3A24"/>
            </a:solidFill>
            <a:prstDash val="solid"/>
          </a:ln>
        </p:spPr>
        <p:txBody>
          <a:bodyPr/>
          <a:p/>
        </p:txBody>
      </p:sp>
      <p:sp>
        <p:nvSpPr>
          <p:cNvPr id="117" name="T117"/>
          <p:cNvSpPr/>
          <p:nvPr/>
        </p:nvSpPr>
        <p:spPr>
          <a:xfrm>
            <a:off x="3580000" y="4988666"/>
            <a:ext cx="2612000" cy="1469333"/>
          </a:xfrm>
          <a:prstGeom prst="rect">
            <a:avLst/>
          </a:prstGeom>
          <a:noFill/>
          <a:ln/>
        </p:spPr>
        <p:txBody>
          <a:bodyPr wrap="square" lIns="0" tIns="0" rIns="0" bIns="0" rtlCol="0" anchor="t"/>
          <a:lstStyle/>
          <a:p>
            <a:pPr indent="0" marL="0">
              <a:lnSpc>
                <a:spcPct val="110000"/>
              </a:lnSpc>
              <a:buNone/>
            </a:pPr>
            <a:r>
              <a:rPr lang="en-US" sz="1100" b="1" spc="200" dirty="0">
                <a:solidFill>
                  <a:srgbClr val="5E3A24"/>
                </a:solidFill>
                <a:latin typeface="Calibri" pitchFamily="34" charset="0"/>
              </a:rPr>
              <a:t>PHASE 2</a:t>
            </a:r>
            <a:endParaRPr lang="en-US" sz="900" dirty="0"/>
          </a:p>
          <a:p>
            <a:pPr indent="0" marL="0">
              <a:lnSpc>
                <a:spcPct val="110000"/>
              </a:lnSpc>
              <a:spcBef>
                <a:spcPts val="150"/>
              </a:spcBef>
              <a:buNone/>
            </a:pPr>
            <a:r>
              <a:rPr lang="en-US" sz="1500" b="1" dirty="0">
                <a:solidFill>
                  <a:srgbClr val="000000"/>
                </a:solidFill>
                <a:latin typeface="Calibri" pitchFamily="34" charset="0"/>
              </a:rPr>
              <a:t>Behaviour emulation</a:t>
            </a:r>
            <a:endParaRPr lang="en-US" sz="1300" dirty="0"/>
          </a:p>
          <a:p>
            <a:pPr indent="0" marL="0">
              <a:lnSpc>
                <a:spcPct val="110000"/>
              </a:lnSpc>
              <a:spcBef>
                <a:spcPts val="200"/>
              </a:spcBef>
              <a:buNone/>
            </a:pPr>
            <a:r>
              <a:rPr lang="en-US" sz="1000" i="1" dirty="0">
                <a:solidFill>
                  <a:srgbClr val="6B5D4F"/>
                </a:solidFill>
                <a:latin typeface="Calibri" pitchFamily="34" charset="0"/>
              </a:rPr>
              <a:t>IDE · Copilot Chat</a:t>
            </a:r>
            <a:endParaRPr lang="en-US" sz="800" dirty="0"/>
          </a:p>
          <a:p>
            <a:pPr indent="0" marL="0">
              <a:lnSpc>
                <a:spcPct val="110000"/>
              </a:lnSpc>
              <a:spcBef>
                <a:spcPts val="250"/>
              </a:spcBef>
              <a:buNone/>
            </a:pPr>
            <a:r>
              <a:rPr lang="en-US" sz="1100" dirty="0">
                <a:solidFill>
                  <a:srgbClr val="334155"/>
                </a:solidFill>
                <a:latin typeface="Calibri" pitchFamily="34" charset="0"/>
              </a:rPr>
              <a:t>Source × transition · Seed → mutation</a:t>
            </a:r>
            <a:endParaRPr lang="en-US" sz="850" dirty="0"/>
          </a:p>
          <a:p>
            <a:pPr indent="0" marL="0">
              <a:lnSpc>
                <a:spcPct val="110000"/>
              </a:lnSpc>
              <a:spcBef>
                <a:spcPts val="300"/>
              </a:spcBef>
              <a:buNone/>
            </a:pPr>
            <a:r>
              <a:rPr lang="en-US" sz="1000" i="1" dirty="0">
                <a:solidFill>
                  <a:srgbClr val="8F5A39"/>
                </a:solidFill>
                <a:latin typeface="Calibri" pitchFamily="34" charset="0"/>
              </a:rPr>
              <a:t>writes</a:t>
            </a:r>
            <a:endParaRPr lang="en-US" sz="750" dirty="0"/>
          </a:p>
          <a:p>
            <a:pPr indent="0" marL="0">
              <a:lnSpc>
                <a:spcPct val="110000"/>
              </a:lnSpc>
              <a:spcBef>
                <a:spcPts val="60"/>
              </a:spcBef>
              <a:buNone/>
            </a:pPr>
            <a:r>
              <a:rPr lang="en-US" sz="1000" b="1" dirty="0">
                <a:solidFill>
                  <a:srgbClr val="1A1A1A"/>
                </a:solidFill>
                <a:latin typeface="Consolas" pitchFamily="34" charset="0"/>
              </a:rPr>
              <a:t>agent-emulation.json</a:t>
            </a:r>
            <a:endParaRPr lang="en-US" sz="800" dirty="0"/>
          </a:p>
        </p:txBody>
      </p:sp>
      <p:cxnSp>
        <p:nvCxnSpPr>
          <p:cNvPr id="118" name="L118"/>
          <p:cNvCxnSpPr/>
          <p:nvPr/>
        </p:nvCxnSpPr>
        <p:spPr>
          <a:xfrm>
            <a:off x="3119000" y="3853999"/>
            <a:ext cx="175500" cy="1"/>
          </a:xfrm>
          <a:prstGeom prst="line">
            <a:avLst/>
          </a:prstGeom>
          <a:ln w="22225">
            <a:solidFill>
              <a:srgbClr val="8F5A39"/>
            </a:solidFill>
          </a:ln>
        </p:spPr>
      </p:cxnSp>
      <p:cxnSp>
        <p:nvCxnSpPr>
          <p:cNvPr id="119" name="L119"/>
          <p:cNvCxnSpPr/>
          <p:nvPr/>
        </p:nvCxnSpPr>
        <p:spPr>
          <a:xfrm flipV="1">
            <a:off x="3294500" y="2034666"/>
            <a:ext cx="1" cy="1819333"/>
          </a:xfrm>
          <a:prstGeom prst="line">
            <a:avLst/>
          </a:prstGeom>
          <a:ln w="22225">
            <a:solidFill>
              <a:srgbClr val="8F5A39"/>
            </a:solidFill>
          </a:ln>
        </p:spPr>
      </p:cxnSp>
      <p:cxnSp>
        <p:nvCxnSpPr>
          <p:cNvPr id="120" name="L120"/>
          <p:cNvCxnSpPr/>
          <p:nvPr/>
        </p:nvCxnSpPr>
        <p:spPr>
          <a:xfrm>
            <a:off x="3294500" y="2034666"/>
            <a:ext cx="175500" cy="1"/>
          </a:xfrm>
          <a:prstGeom prst="line">
            <a:avLst/>
          </a:prstGeom>
          <a:ln w="22225">
            <a:solidFill>
              <a:srgbClr val="8F5A39"/>
            </a:solidFill>
            <a:tailEnd type="triangle" w="med" len="med"/>
          </a:ln>
        </p:spPr>
      </p:cxnSp>
      <p:cxnSp>
        <p:nvCxnSpPr>
          <p:cNvPr id="121" name="L121"/>
          <p:cNvCxnSpPr/>
          <p:nvPr/>
        </p:nvCxnSpPr>
        <p:spPr>
          <a:xfrm>
            <a:off x="4886000" y="2869333"/>
            <a:ext cx="1" cy="150000"/>
          </a:xfrm>
          <a:prstGeom prst="line">
            <a:avLst/>
          </a:prstGeom>
          <a:ln w="22225">
            <a:solidFill>
              <a:srgbClr val="8F5A39"/>
            </a:solidFill>
            <a:tailEnd type="triangle" w="med" len="med"/>
          </a:ln>
        </p:spPr>
      </p:cxnSp>
      <p:cxnSp>
        <p:nvCxnSpPr>
          <p:cNvPr id="122" name="L122"/>
          <p:cNvCxnSpPr/>
          <p:nvPr/>
        </p:nvCxnSpPr>
        <p:spPr>
          <a:xfrm>
            <a:off x="4886000" y="4688666"/>
            <a:ext cx="1" cy="150000"/>
          </a:xfrm>
          <a:prstGeom prst="line">
            <a:avLst/>
          </a:prstGeom>
          <a:ln w="22225">
            <a:solidFill>
              <a:srgbClr val="8F5A39"/>
            </a:solidFill>
            <a:tailEnd type="triangle" w="med" len="med"/>
          </a:ln>
        </p:spPr>
      </p:cxnSp>
      <p:cxnSp>
        <p:nvCxnSpPr>
          <p:cNvPr id="123" name="L123"/>
          <p:cNvCxnSpPr/>
          <p:nvPr/>
        </p:nvCxnSpPr>
        <p:spPr>
          <a:xfrm>
            <a:off x="6302000" y="4000000"/>
            <a:ext cx="175500" cy="1"/>
          </a:xfrm>
          <a:prstGeom prst="line">
            <a:avLst/>
          </a:prstGeom>
          <a:ln w="22225">
            <a:solidFill>
              <a:srgbClr val="8F5A39"/>
            </a:solidFill>
          </a:ln>
        </p:spPr>
      </p:cxnSp>
      <p:cxnSp>
        <p:nvCxnSpPr>
          <p:cNvPr id="124" name="L124"/>
          <p:cNvCxnSpPr/>
          <p:nvPr/>
        </p:nvCxnSpPr>
        <p:spPr>
          <a:xfrm flipV="1">
            <a:off x="6477500" y="3853999"/>
            <a:ext cx="1" cy="146001"/>
          </a:xfrm>
          <a:prstGeom prst="line">
            <a:avLst/>
          </a:prstGeom>
          <a:ln w="22225">
            <a:solidFill>
              <a:srgbClr val="8F5A39"/>
            </a:solidFill>
          </a:ln>
        </p:spPr>
      </p:cxnSp>
      <p:cxnSp>
        <p:nvCxnSpPr>
          <p:cNvPr id="125" name="L125"/>
          <p:cNvCxnSpPr/>
          <p:nvPr/>
        </p:nvCxnSpPr>
        <p:spPr>
          <a:xfrm>
            <a:off x="6477500" y="4000000"/>
            <a:ext cx="175500" cy="1"/>
          </a:xfrm>
          <a:prstGeom prst="line">
            <a:avLst/>
          </a:prstGeom>
          <a:ln w="22225">
            <a:solidFill>
              <a:srgbClr val="8F5A39"/>
            </a:solidFill>
            <a:tailEnd type="triangle" w="med" len="med"/>
          </a:ln>
        </p:spPr>
      </p:cxnSp>
      <p:cxnSp>
        <p:nvCxnSpPr>
          <p:cNvPr id="126" name="L126"/>
          <p:cNvCxnSpPr/>
          <p:nvPr/>
        </p:nvCxnSpPr>
        <p:spPr>
          <a:xfrm>
            <a:off x="8659000" y="4000000"/>
            <a:ext cx="414000" cy="1"/>
          </a:xfrm>
          <a:prstGeom prst="line">
            <a:avLst/>
          </a:prstGeom>
          <a:ln w="22225">
            <a:solidFill>
              <a:srgbClr val="8F5A39"/>
            </a:solidFill>
            <a:tailEnd type="triangle" w="med" len="med"/>
          </a:ln>
        </p:spPr>
      </p:cxnSp>
      <p:sp>
        <p:nvSpPr>
          <p:cNvPr id="44" name="Text 42"/>
          <p:cNvSpPr/>
          <p:nvPr/>
        </p:nvSpPr>
        <p:spPr>
          <a:xfrm>
            <a:off x="457200" y="6446520"/>
            <a:ext cx="11274552" cy="292608"/>
          </a:xfrm>
          <a:prstGeom prst="rect">
            <a:avLst/>
          </a:prstGeom>
          <a:noFill/>
          <a:ln/>
        </p:spPr>
        <p:txBody>
          <a:bodyPr wrap="square" lIns="0" tIns="0" rIns="0" bIns="0" rtlCol="0" anchor="ctr"/>
          <a:lstStyle/>
          <a:p>
            <a:pPr algn="ctr" indent="0" marL="0">
              <a:buNone/>
            </a:pPr>
            <a:r>
              <a:rPr lang="en-US" sz="1400" b="1" dirty="0">
                <a:solidFill>
                  <a:srgbClr val="000000"/>
                </a:solidFill>
                <a:latin typeface="Calibri" pitchFamily="34" charset="0"/>
                <a:ea typeface="Calibri" pitchFamily="34" charset="-122"/>
                <a:cs typeface="Calibri" pitchFamily="34" charset="-120"/>
              </a:rPr>
              <a:t>Run CLI · open IDE · run CLI again</a:t>
            </a:r>
            <a:pPr algn="ctr" indent="0" marL="0">
              <a:buNone/>
            </a:pPr>
            <a:r>
              <a:rPr lang="en-US" sz="1400" i="1" dirty="0">
                <a:solidFill>
                  <a:srgbClr val="6B5D4F"/>
                </a:solidFill>
                <a:latin typeface="Calibri" pitchFamily="34" charset="0"/>
                <a:ea typeface="Calibri" pitchFamily="34" charset="-122"/>
                <a:cs typeface="Calibri" pitchFamily="34" charset="-120"/>
              </a:rPr>
              <a:t xml:space="preserve">  —  reproducible, framework-mapped, ready before you ship.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AgentShield Deck</dc:title>
  <dc:subject>PptxGenJS Presentation</dc:subject>
  <dc:creator>PptxGenJS</dc:creator>
  <cp:lastModifiedBy>PptxGenJS</cp:lastModifiedBy>
  <cp:revision>1</cp:revision>
  <dcterms:created xsi:type="dcterms:W3CDTF">2026-05-20T16:43:37Z</dcterms:created>
  <dcterms:modified xsi:type="dcterms:W3CDTF">2026-05-20T16:43:37Z</dcterms:modified>
</cp:coreProperties>
</file>