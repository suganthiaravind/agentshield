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b="1"/>
              <a:t>Opening</a:t>
            </a:r>
            <a:endParaRPr lang="en-US" b="1" dirty="0"/>
          </a:p>
          <a:p>
            <a:pPr marL="0" indent="0">
              <a:buNone/>
            </a:pPr>
            <a:r>
              <a:rPr lang="en-US" dirty="0"/>
              <a:t>The Behaviour Emulator answers a question that static scanning can't: if an attacker sent a malicious payload to this agent right now, would it land? No running instance needed — we read the source code, reconstruct the agent's pipeline, and walk an attacker through it step by step.</a:t>
            </a:r>
            <a:endParaRPr lang="en-US" dirty="0"/>
          </a:p>
          <a:p>
            <a:pPr marL="0" indent="0">
              <a:buNone/>
            </a:pPr>
            <a:endParaRPr lang="en-US" dirty="0"/>
          </a:p>
          <a:p>
            <a:pPr marL="0" indent="0">
              <a:buNone/>
            </a:pPr>
            <a:r>
              <a:rPr lang="en-US" dirty="0" b="1"/>
              <a:t>Entry Points &amp; Pipeline Map</a:t>
            </a:r>
            <a:endParaRPr lang="en-US" b="1" dirty="0"/>
          </a:p>
          <a:p>
            <a:pPr marL="0" indent="0">
              <a:buNone/>
            </a:pPr>
            <a:r>
              <a:rPr lang="en-US" dirty="0"/>
              <a:t>The first thing the emulator does is enumerate every entry point in the codebase — every HTTP route, Lambda handler, WebSocket receiver, and internal batch function. For each one it traces the pipeline from source: is there an input filter? A system prompt? A planner? Does the output go through a scrubber before it hits the response?</a:t>
            </a:r>
            <a:endParaRPr lang="en-US" dirty="0"/>
          </a:p>
          <a:p>
            <a:pPr marL="0" indent="0">
              <a:buNone/>
            </a:pPr>
            <a:r>
              <a:rPr lang="en-US" dirty="0"/>
              <a:t>This matters because most real agents have more than one entry point, and those entry points are not equal. POST /chat might have an input filter. POST /api/orchestrator/receive might not. An attack blocked on one route can land on a sibling route three lines away. The emulator evaluates each pipeline independently — it never shares verdicts across entry points.</a:t>
            </a:r>
            <a:endParaRPr lang="en-US" dirty="0"/>
          </a:p>
          <a:p>
            <a:pPr marL="0" indent="0">
              <a:buNone/>
            </a:pPr>
            <a:r>
              <a:rPr lang="en-US" dirty="0"/>
              <a:t>Under the hood, four Copilot roles drive the run. The Planner decides what to attack next based on what the pipeline looks like. The Attacker crafts the payload — first from the generic catalogue, then adapted if blocked. The Agent emulates the target’s pipeline step by step, applying the same input filters, system prompts, and tool wiring we read from source. The Judge looks at the agent’s output and decides the verdict: lands, partial, blocked, or inconclusive. Keeping these roles separate is what lets us run the whole loop offline without ever touching a live endpoint.</a:t>
            </a:r>
            <a:endParaRPr lang="en-US" dirty="0"/>
          </a:p>
          <a:p>
            <a:pPr marL="0" indent="0">
              <a:buNone/>
            </a:pPr>
            <a:endParaRPr lang="en-US" dirty="0"/>
          </a:p>
          <a:p>
            <a:pPr marL="0" indent="0">
              <a:buNone/>
            </a:pPr>
            <a:r>
              <a:rPr lang="en-US" dirty="0" b="1"/>
              <a:t>Source × Transition Attacks</a:t>
            </a:r>
            <a:endParaRPr lang="en-US" b="1" dirty="0"/>
          </a:p>
          <a:p>
            <a:pPr marL="0" indent="0">
              <a:buNone/>
            </a:pPr>
            <a:r>
              <a:rPr lang="en-US" dirty="0"/>
              <a:t>Instead of running every known attack against every entry point, the emulator scopes attacks to what each input source can actually carry. A user message can carry a direct prompt injection. An external RAG document can carry an indirect injection. A tool response can carry a tool-argument injection. A peer agent message can carry an authority spoofing attempt. Batch records can carry memory poisoning.</a:t>
            </a:r>
            <a:endParaRPr lang="en-US" dirty="0"/>
          </a:p>
          <a:p>
            <a:pPr marL="0" indent="0">
              <a:buNone/>
            </a:pPr>
            <a:r>
              <a:rPr lang="en-US" dirty="0"/>
              <a:t>This is important: we use generic catalogue payloads — we deliberately do not adapt the attacker-side text from the source code. The intelligence comes from what the agent reveals under attack, not from what the attacker has read in the repo. That's what makes the emulator findings credible to a security reviewer.</a:t>
            </a:r>
            <a:endParaRPr lang="en-US" dirty="0"/>
          </a:p>
          <a:p>
            <a:pPr marL="0" indent="0">
              <a:buNone/>
            </a:pPr>
            <a:endParaRPr lang="en-US" dirty="0"/>
          </a:p>
          <a:p>
            <a:pPr marL="0" indent="0">
              <a:buNone/>
            </a:pPr>
            <a:r>
              <a:rPr lang="en-US" dirty="0" b="1"/>
              <a:t>Seed → Mutation Escalation</a:t>
            </a:r>
            <a:endParaRPr lang="en-US" b="1" dirty="0"/>
          </a:p>
          <a:p>
            <a:pPr marL="0" indent="0">
              <a:buNone/>
            </a:pPr>
            <a:r>
              <a:rPr lang="en-US" dirty="0"/>
              <a:t>For each attack class, the emulator first fires three generic seed payloads — a blunt override, a social engineering attempt, a fake authority claim. If all three are blocked, it doesn't stop there.</a:t>
            </a:r>
            <a:endParaRPr lang="en-US" dirty="0"/>
          </a:p>
          <a:p>
            <a:pPr marL="0" indent="0">
              <a:buNone/>
            </a:pPr>
            <a:r>
              <a:rPr lang="en-US" dirty="0"/>
              <a:t>It generates adaptive mutations. Each mutation is specifically crafted to target the defence that blocked the previous attempt. If the input filter caught a keyword, the mutation tries an encoding bypass. If the system prompt boundary held, the mutation tries a role confusion approach. This continues for up to five mutations per attack class, stopping the moment one advances.</a:t>
            </a:r>
            <a:endParaRPr lang="en-US" dirty="0"/>
          </a:p>
          <a:p>
            <a:pPr marL="0" indent="0">
              <a:buNone/>
            </a:pPr>
            <a:r>
              <a:rPr lang="en-US" dirty="0"/>
              <a:t>This is how we surface partial defences — controls that look solid against known payloads but have a bypass one mutation away.</a:t>
            </a:r>
            <a:endParaRPr lang="en-US" dirty="0"/>
          </a:p>
          <a:p>
            <a:pPr marL="0" indent="0">
              <a:buNone/>
            </a:pPr>
            <a:r>
              <a:rPr lang="en-US" dirty="0"/>
              <a:t>Take the walkthrough on the slide as a concrete example. The Planner picks POST /chat as the entry point, identifies the user message as the untrusted source, and chooses prompt injection as the transition to test. The Attacker fires the three generic seeds in turn — a blunt “ignore previous instructions,” a roleplay framing, a fake admin authority claim. The Agent runs each one through the actual pipeline read from source, and the input filter blocks all three. At this point a naive scanner would call it done. Our Attacker doesn’t. It looks at why the filter caught those payloads — keyword matching on plaintext — and crafts M1: the same override, base64-encoded. The filter doesn’t decode, so the payload sails through. The Judge sees the agent comply with the injected instruction and marks the verdict partial — the defence exists but has a bypass. That single finding is worth more than a hundred clean catalogue runs, because it tells the developer exactly where their filter logic is incomplete.</a:t>
            </a:r>
            <a:endParaRPr lang="en-US" dirty="0"/>
          </a:p>
          <a:p>
            <a:pPr marL="0" indent="0">
              <a:buNone/>
            </a:pPr>
            <a:endParaRPr lang="en-US" dirty="0"/>
          </a:p>
          <a:p>
            <a:pPr marL="0" indent="0">
              <a:buNone/>
            </a:pPr>
            <a:r>
              <a:rPr lang="en-US" dirty="0" b="1"/>
              <a:t>Output</a:t>
            </a:r>
            <a:endParaRPr lang="en-US" b="1" dirty="0"/>
          </a:p>
          <a:p>
            <a:pPr marL="0" indent="0">
              <a:buNone/>
            </a:pPr>
            <a:r>
              <a:rPr lang="en-US" dirty="0"/>
              <a:t>The result is agent-emulation.json — one block per entry point, each block containing every source × transition result, the pipeline steps traversed, file:line citations for every prediction, and the payload that advanced if one did.</a:t>
            </a:r>
            <a:endParaRPr lang="en-US" dirty="0"/>
          </a:p>
          <a:p>
            <a:pPr marL="0" indent="0">
              <a:buNone/>
            </a:pPr>
            <a:r>
              <a:rPr lang="en-US" dirty="0"/>
              <a:t>Four possible verdicts: lands means no effective control; partial means a control exists but was bypassed in mutation; blocked means the defence held across all attempts; inconclusive means the relevant pipeline step wasn't present in the scanned files — we never fabricate behaviour.</a:t>
            </a:r>
            <a:endParaRPr lang="en-US" dirty="0"/>
          </a:p>
          <a:p>
            <a:pPr marL="0" indent="0">
              <a:buNone/>
            </a:pPr>
            <a:r>
              <a:rPr lang="en-US" dirty="0"/>
              <a:t>These verdicts feed directly into the I/O tab of the AgentShield report — every lands or partial finding links back to the exact file and line where the gap sits, with a remediation recommendation attached.</a:t>
            </a:r>
            <a:endParaRPr lang="en-US" dirty="0"/>
          </a:p>
          <a:p>
            <a:pPr marL="0" indent="0">
              <a:buNone/>
            </a:pPr>
            <a:endParaRPr lang="en-US" dirty="0"/>
          </a:p>
          <a:p>
            <a:pPr marL="0" indent="0">
              <a:buNone/>
            </a:pPr>
            <a:r>
              <a:rPr lang="en-US" dirty="0" b="1"/>
              <a:t>Closing</a:t>
            </a:r>
            <a:endParaRPr lang="en-US" b="1" dirty="0"/>
          </a:p>
          <a:p>
            <a:pPr marL="0" indent="0">
              <a:buNone/>
            </a:pPr>
            <a:r>
              <a:rPr lang="en-US" dirty="0"/>
              <a:t>The key thing to leave the audience with: this is not fuzzing, it is not a pentest, and it does not touch a running system. It is a structured prediction — the same prediction a skilled attacker would make after reading the codebase. The difference is AgentShield does it in seconds, across every entry point, and puts the findings in a report format your security team can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37744"/>
            <a:ext cx="11274552" cy="457200"/>
          </a:xfrm>
          <a:prstGeom prst="rect">
            <a:avLst/>
          </a:prstGeom>
          <a:noFill/>
          <a:ln/>
        </p:spPr>
        <p:txBody>
          <a:bodyPr wrap="square" lIns="0" tIns="0" rIns="0" bIns="0" rtlCol="0" anchor="ctr"/>
          <a:lstStyle/>
          <a:p>
            <a:pPr indent="0" marL="0">
              <a:buNone/>
            </a:pPr>
            <a:r>
              <a:rPr lang="en-US" sz="2700" b="1" dirty="0">
                <a:solidFill>
                  <a:srgbClr val="1A1A1A"/>
                </a:solidFill>
                <a:latin typeface="Calibri" pitchFamily="34" charset="0"/>
                <a:ea typeface="Calibri" pitchFamily="34" charset="-122"/>
                <a:cs typeface="Calibri" pitchFamily="34" charset="-120"/>
              </a:rPr>
              <a:t>AgentShield Behavior Emulator</a:t>
            </a:r>
            <a:endParaRPr lang="en-US" sz="2700" dirty="0"/>
          </a:p>
        </p:txBody>
      </p:sp>
      <p:sp>
        <p:nvSpPr>
          <p:cNvPr id="3" name="Text 1"/>
          <p:cNvSpPr/>
          <p:nvPr/>
        </p:nvSpPr>
        <p:spPr>
          <a:xfrm>
            <a:off x="457200" y="713232"/>
            <a:ext cx="11274552" cy="292608"/>
          </a:xfrm>
          <a:prstGeom prst="rect">
            <a:avLst/>
          </a:prstGeom>
          <a:noFill/>
          <a:ln/>
        </p:spPr>
        <p:txBody>
          <a:bodyPr wrap="square" lIns="0" tIns="0" rIns="0" bIns="0" rtlCol="0" anchor="ctr"/>
          <a:lstStyle/>
          <a:p>
            <a:pPr indent="0" marL="0">
              <a:buNone/>
            </a:pPr>
            <a:r>
              <a:rPr lang="en-US" sz="1300" i="1" dirty="0">
                <a:solidFill>
                  <a:srgbClr val="6B5D4F"/>
                </a:solidFill>
                <a:latin typeface="Calibri" pitchFamily="34" charset="0"/>
                <a:ea typeface="Calibri" pitchFamily="34" charset="-122"/>
                <a:cs typeface="Calibri" pitchFamily="34" charset="-120"/>
              </a:rPr>
              <a:t>Source-code analysis that predicts agent vulnerability — no live endpoint needed</a:t>
            </a:r>
            <a:endParaRPr lang="en-US" sz="1300" dirty="0"/>
          </a:p>
        </p:txBody>
      </p:sp>
      <p:sp>
        <p:nvSpPr>
          <p:cNvPr id="4" name="Shape 2"/>
          <p:cNvSpPr/>
          <p:nvPr/>
        </p:nvSpPr>
        <p:spPr>
          <a:xfrm>
            <a:off x="457200" y="1097280"/>
            <a:ext cx="11274552" cy="0"/>
          </a:xfrm>
          <a:prstGeom prst="line">
            <a:avLst/>
          </a:prstGeom>
          <a:noFill/>
          <a:ln w="25400">
            <a:solidFill>
              <a:srgbClr val="8F5A39"/>
            </a:solidFill>
            <a:prstDash val="solid"/>
          </a:ln>
        </p:spPr>
      </p:sp>
      <p:sp>
        <p:nvSpPr>
          <p:cNvPr id="5" name="Shape 3"/>
          <p:cNvSpPr/>
          <p:nvPr/>
        </p:nvSpPr>
        <p:spPr>
          <a:xfrm>
            <a:off x="457200" y="1280160"/>
            <a:ext cx="6400800" cy="1520000"/>
          </a:xfrm>
          <a:prstGeom prst="rect">
            <a:avLst/>
          </a:prstGeom>
          <a:solidFill>
            <a:srgbClr val="FFFFFF"/>
          </a:solidFill>
          <a:ln w="12700">
            <a:solidFill>
              <a:srgbClr val="E4DBCB"/>
            </a:solidFill>
            <a:prstDash val="solid"/>
          </a:ln>
          <a:effectLst>
            <a:outerShdw sx="100000" sy="100000" kx="0" ky="0" algn="bl" rotWithShape="0" blurRad="63500" dist="25400" dir="8100000">
              <a:srgbClr val="000000">
                <a:alpha val="12000"/>
              </a:srgbClr>
            </a:outerShdw>
          </a:effectLst>
        </p:spPr>
      </p:sp>
      <p:sp>
        <p:nvSpPr>
          <p:cNvPr id="6" name="Shape 4"/>
          <p:cNvSpPr/>
          <p:nvPr/>
        </p:nvSpPr>
        <p:spPr>
          <a:xfrm>
            <a:off x="457200" y="1280160"/>
            <a:ext cx="64008" cy="1520000"/>
          </a:xfrm>
          <a:prstGeom prst="rect">
            <a:avLst/>
          </a:prstGeom>
          <a:solidFill>
            <a:srgbClr val="8F5A39"/>
          </a:solidFill>
          <a:ln w="12700">
            <a:solidFill>
              <a:srgbClr val="333333"/>
            </a:solidFill>
            <a:prstDash val="solid"/>
          </a:ln>
        </p:spPr>
      </p:sp>
      <p:sp>
        <p:nvSpPr>
          <p:cNvPr id="7" name="Text 5"/>
          <p:cNvSpPr/>
          <p:nvPr/>
        </p:nvSpPr>
        <p:spPr>
          <a:xfrm>
            <a:off x="640080" y="1371600"/>
            <a:ext cx="6035040" cy="201168"/>
          </a:xfrm>
          <a:prstGeom prst="rect">
            <a:avLst/>
          </a:prstGeom>
          <a:noFill/>
          <a:ln/>
        </p:spPr>
        <p:txBody>
          <a:bodyPr wrap="square" lIns="0" tIns="0" rIns="0" bIns="0" rtlCol="0" anchor="ctr"/>
          <a:lstStyle/>
          <a:p>
            <a:pPr indent="0" marL="0">
              <a:buNone/>
            </a:pPr>
            <a:r>
              <a:rPr lang="en-US" sz="950" b="1" spc="150" kern="0" dirty="0">
                <a:solidFill>
                  <a:srgbClr val="8F5A39"/>
                </a:solidFill>
                <a:latin typeface="Calibri" pitchFamily="34" charset="0"/>
                <a:ea typeface="Calibri" pitchFamily="34" charset="-122"/>
                <a:cs typeface="Calibri" pitchFamily="34" charset="-120"/>
              </a:rPr>
              <a:t>ENTRY POINTS &amp; PIPELINE MAP</a:t>
            </a:r>
            <a:endParaRPr lang="en-US" sz="950" dirty="0"/>
          </a:p>
        </p:txBody>
      </p:sp>
      <p:sp>
        <p:nvSpPr>
          <p:cNvPr id="8" name="Text 6"/>
          <p:cNvSpPr/>
          <p:nvPr/>
        </p:nvSpPr>
        <p:spPr>
          <a:xfrm>
            <a:off x="640080" y="1554480"/>
            <a:ext cx="6035040" cy="219456"/>
          </a:xfrm>
          <a:prstGeom prst="rect">
            <a:avLst/>
          </a:prstGeom>
          <a:noFill/>
          <a:ln/>
        </p:spPr>
        <p:txBody>
          <a:bodyPr wrap="square" lIns="0" tIns="0" rIns="0" bIns="0" rtlCol="0" anchor="ctr"/>
          <a:lstStyle/>
          <a:p>
            <a:pPr indent="0" marL="0">
              <a:buNone/>
            </a:pPr>
            <a:r>
              <a:rPr lang="en-US" sz="900" i="1" dirty="0">
                <a:solidFill>
                  <a:srgbClr val="6B5D4F"/>
                </a:solidFill>
                <a:latin typeface="Calibri" pitchFamily="34" charset="0"/>
                <a:ea typeface="Calibri" pitchFamily="34" charset="-122"/>
                <a:cs typeface="Calibri" pitchFamily="34" charset="-120"/>
              </a:rPr>
              <a:t>Each entry point’s pipeline is walked from source — every step mapped to a file:line.</a:t>
            </a:r>
            <a:endParaRPr lang="en-US" sz="900" dirty="0"/>
          </a:p>
        </p:txBody>
      </p:sp>
      <p:sp>
        <p:nvSpPr>
          <p:cNvPr id="9" name="Text 7"/>
          <p:cNvSpPr/>
          <p:nvPr/>
        </p:nvSpPr>
        <p:spPr>
          <a:xfrm>
            <a:off x="640080" y="1773936"/>
            <a:ext cx="6035040" cy="1020000"/>
          </a:xfrm>
          <a:prstGeom prst="rect">
            <a:avLst/>
          </a:prstGeom>
          <a:noFill/>
          <a:ln/>
        </p:spPr>
        <p:txBody>
          <a:bodyPr wrap="square" lIns="0" tIns="0" rIns="0" bIns="0" rtlCol="0" anchor="t"/>
          <a:lstStyle/>
          <a:p>
            <a:pPr indent="0" marL="0">
              <a:lnSpc>
                <a:spcPct val="95000"/>
              </a:lnSpc>
              <a:buNone/>
            </a:pPr>
            <a:r>
              <a:rPr lang="en-US" sz="775" b="1" spc="80" dirty="0">
                <a:solidFill>
                  <a:srgbClr val="8F5A39"/>
                </a:solidFill>
                <a:latin typeface="Calibri" pitchFamily="34" charset="0"/>
                <a:ea typeface="Calibri" pitchFamily="34" charset="-122"/>
                <a:cs typeface="Calibri" pitchFamily="34" charset="-120"/>
              </a:rPr>
              <a:t>DISCOVERED FROM SOURCE</a:t>
            </a:r>
            <a:endParaRPr lang="en-US" sz="775" dirty="0"/>
          </a:p>
          <a:p>
            <a:pPr indent="0" marL="0">
              <a:lnSpc>
                <a:spcPct val="105000"/>
              </a:lnSpc>
              <a:spcBef>
                <a:spcPts val="220"/>
              </a:spcBef>
              <a:buNone/>
            </a:pPr>
            <a:r>
              <a:rPr lang="en-US" sz="800" dirty="0">
                <a:solidFill>
                  <a:srgbClr val="1A1A1A"/>
                </a:solidFill>
                <a:latin typeface="Calibri" pitchFamily="34" charset="0"/>
              </a:rPr>
              <a:t>Every HTTP route, WebSocket handler, Lambda handler, and internal function. For each one the pipeline is traced from source — input filter, system prompt, planner, tool-caller, output flow.</a:t>
            </a:r>
            <a:endParaRPr lang="en-US" sz="800" dirty="0"/>
          </a:p>
          <a:p>
            <a:pPr indent="0" marL="0">
              <a:lnSpc>
                <a:spcPct val="110000"/>
              </a:lnSpc>
              <a:spcBef>
                <a:spcPts val="350"/>
              </a:spcBef>
              <a:buNone/>
            </a:pPr>
            <a:r>
              <a:rPr lang="en-US" sz="750" i="1" dirty="0">
                <a:solidFill>
                  <a:srgbClr val="6B5D4F"/>
                </a:solidFill>
                <a:latin typeface="Calibri" pitchFamily="34" charset="0"/>
              </a:rPr>
              <a:t xml:space="preserve">e.g. </a:t>
            </a:r>
            <a:r>
              <a:rPr lang="en-US" sz="800" b="1" dirty="0">
                <a:solidFill>
                  <a:srgbClr val="1A1A1A"/>
                </a:solidFill>
                <a:latin typeface="Consolas" pitchFamily="49" charset="0"/>
              </a:rPr>
              <a:t>POST /chat</a:t>
            </a:r>
            <a:r>
              <a:rPr lang="en-US" sz="800" dirty="0">
                <a:solidFill>
                  <a:srgbClr val="6B5D4F"/>
                </a:solidFill>
                <a:latin typeface="Calibri" pitchFamily="34" charset="0"/>
              </a:rPr>
              <a:t xml:space="preserve">  —  user input → input filter → LLM → response</a:t>
            </a:r>
            <a:endParaRPr lang="en-US" sz="800" dirty="0"/>
          </a:p>
          <a:p>
            <a:pPr indent="0" marL="0">
              <a:lnSpc>
                <a:spcPct val="95000"/>
              </a:lnSpc>
              <a:spcBef>
                <a:spcPts val="450"/>
              </a:spcBef>
              <a:buNone/>
            </a:pPr>
            <a:r>
              <a:rPr lang="en-US" sz="775" b="1" spc="80" dirty="0">
                <a:solidFill>
                  <a:srgbClr val="8F5A39"/>
                </a:solidFill>
                <a:latin typeface="Calibri" pitchFamily="34" charset="0"/>
              </a:rPr>
              <a:t>COPILOT ROLES</a:t>
            </a:r>
            <a:endParaRPr lang="en-US" sz="775" dirty="0"/>
          </a:p>
          <a:p>
            <a:pPr indent="0" marL="0">
              <a:lnSpc>
                <a:spcPct val="110000"/>
              </a:lnSpc>
              <a:spcBef>
                <a:spcPts val="220"/>
              </a:spcBef>
              <a:buNone/>
            </a:pPr>
            <a:r>
              <a:rPr lang="en-US" sz="800" b="1" dirty="0">
                <a:solidFill>
                  <a:srgbClr val="1A1A1A"/>
                </a:solidFill>
                <a:latin typeface="Calibri" pitchFamily="34" charset="0"/>
              </a:rPr>
              <a:t xml:space="preserve">Planner </a:t>
            </a:r>
            <a:r>
              <a:rPr lang="en-US" sz="800" dirty="0">
                <a:solidFill>
                  <a:srgbClr val="6B5D4F"/>
                </a:solidFill>
                <a:latin typeface="Calibri" pitchFamily="34" charset="0"/>
              </a:rPr>
              <a:t xml:space="preserve">decides what to attack next  │  </a:t>
            </a:r>
            <a:r>
              <a:rPr lang="en-US" sz="800" b="1" dirty="0">
                <a:solidFill>
                  <a:srgbClr val="1A1A1A"/>
                </a:solidFill>
                <a:latin typeface="Calibri" pitchFamily="34" charset="0"/>
              </a:rPr>
              <a:t xml:space="preserve">Attacker </a:t>
            </a:r>
            <a:r>
              <a:rPr lang="en-US" sz="800" dirty="0">
                <a:solidFill>
                  <a:srgbClr val="6B5D4F"/>
                </a:solidFill>
                <a:latin typeface="Calibri" pitchFamily="34" charset="0"/>
              </a:rPr>
              <a:t>crafts the payload</a:t>
            </a:r>
            <a:endParaRPr lang="en-US" sz="800" dirty="0"/>
          </a:p>
          <a:p>
            <a:pPr indent="0" marL="0">
              <a:lnSpc>
                <a:spcPct val="110000"/>
              </a:lnSpc>
              <a:spcBef>
                <a:spcPts val="150"/>
              </a:spcBef>
              <a:buNone/>
            </a:pPr>
            <a:r>
              <a:rPr lang="en-US" sz="800" b="1" dirty="0">
                <a:solidFill>
                  <a:srgbClr val="1A1A1A"/>
                </a:solidFill>
                <a:latin typeface="Calibri" pitchFamily="34" charset="0"/>
              </a:rPr>
              <a:t xml:space="preserve">Agent </a:t>
            </a:r>
            <a:r>
              <a:rPr lang="en-US" sz="800" dirty="0">
                <a:solidFill>
                  <a:srgbClr val="6B5D4F"/>
                </a:solidFill>
                <a:latin typeface="Calibri" pitchFamily="34" charset="0"/>
              </a:rPr>
              <a:t xml:space="preserve">emulates the target’s pipeline  │  </a:t>
            </a:r>
            <a:r>
              <a:rPr lang="en-US" sz="800" b="1" dirty="0">
                <a:solidFill>
                  <a:srgbClr val="1A1A1A"/>
                </a:solidFill>
                <a:latin typeface="Calibri" pitchFamily="34" charset="0"/>
              </a:rPr>
              <a:t xml:space="preserve">Judge </a:t>
            </a:r>
            <a:r>
              <a:rPr lang="en-US" sz="800" dirty="0">
                <a:solidFill>
                  <a:srgbClr val="6B5D4F"/>
                </a:solidFill>
                <a:latin typeface="Calibri" pitchFamily="34" charset="0"/>
              </a:rPr>
              <a:t>verdicts lands / partial / blocked</a:t>
            </a:r>
            <a:endParaRPr lang="en-US" sz="800" dirty="0"/>
          </a:p>
        </p:txBody>
      </p:sp>
      <p:sp>
        <p:nvSpPr>
          <p:cNvPr id="31" name="Shape 29"/>
          <p:cNvSpPr/>
          <p:nvPr/>
        </p:nvSpPr>
        <p:spPr>
          <a:xfrm>
            <a:off x="7132320" y="1280160"/>
            <a:ext cx="4599432" cy="1520000"/>
          </a:xfrm>
          <a:prstGeom prst="rect">
            <a:avLst/>
          </a:prstGeom>
          <a:solidFill>
            <a:srgbClr val="FFFFFF"/>
          </a:solidFill>
          <a:ln w="12700">
            <a:solidFill>
              <a:srgbClr val="E4DBCB"/>
            </a:solidFill>
            <a:prstDash val="solid"/>
          </a:ln>
          <a:effectLst>
            <a:outerShdw sx="100000" sy="100000" kx="0" ky="0" algn="bl" rotWithShape="0" blurRad="63500" dist="25400" dir="8100000">
              <a:srgbClr val="000000">
                <a:alpha val="12000"/>
              </a:srgbClr>
            </a:outerShdw>
          </a:effectLst>
        </p:spPr>
      </p:sp>
      <p:sp>
        <p:nvSpPr>
          <p:cNvPr id="32" name="Shape 30"/>
          <p:cNvSpPr/>
          <p:nvPr/>
        </p:nvSpPr>
        <p:spPr>
          <a:xfrm>
            <a:off x="7132320" y="1280160"/>
            <a:ext cx="64008" cy="1520000"/>
          </a:xfrm>
          <a:prstGeom prst="rect">
            <a:avLst/>
          </a:prstGeom>
          <a:solidFill>
            <a:srgbClr val="3E7FA6"/>
          </a:solidFill>
          <a:ln w="12700">
            <a:solidFill>
              <a:srgbClr val="333333"/>
            </a:solidFill>
            <a:prstDash val="solid"/>
          </a:ln>
        </p:spPr>
      </p:sp>
      <p:sp>
        <p:nvSpPr>
          <p:cNvPr id="33" name="Text 31"/>
          <p:cNvSpPr/>
          <p:nvPr/>
        </p:nvSpPr>
        <p:spPr>
          <a:xfrm>
            <a:off x="7315200" y="1371600"/>
            <a:ext cx="4233672" cy="201168"/>
          </a:xfrm>
          <a:prstGeom prst="rect">
            <a:avLst/>
          </a:prstGeom>
          <a:noFill/>
          <a:ln/>
        </p:spPr>
        <p:txBody>
          <a:bodyPr wrap="square" lIns="0" tIns="0" rIns="0" bIns="0" rtlCol="0" anchor="ctr"/>
          <a:lstStyle/>
          <a:p>
            <a:pPr indent="0" marL="0">
              <a:buNone/>
            </a:pPr>
            <a:r>
              <a:rPr lang="en-US" sz="950" b="1" spc="150" kern="0" dirty="0">
                <a:solidFill>
                  <a:srgbClr val="3E7FA6"/>
                </a:solidFill>
                <a:latin typeface="Calibri" pitchFamily="34" charset="0"/>
                <a:ea typeface="Calibri" pitchFamily="34" charset="-122"/>
                <a:cs typeface="Calibri" pitchFamily="34" charset="-120"/>
              </a:rPr>
              <a:t>SOURCE × TRANSITION ATTACKS</a:t>
            </a:r>
            <a:endParaRPr lang="en-US" sz="950" dirty="0"/>
          </a:p>
        </p:txBody>
      </p:sp>
      <p:sp>
        <p:nvSpPr>
          <p:cNvPr id="34" name="Text 32"/>
          <p:cNvSpPr/>
          <p:nvPr/>
        </p:nvSpPr>
        <p:spPr>
          <a:xfrm>
            <a:off x="7315200" y="1554480"/>
            <a:ext cx="4233672" cy="201168"/>
          </a:xfrm>
          <a:prstGeom prst="rect">
            <a:avLst/>
          </a:prstGeom>
          <a:noFill/>
          <a:ln/>
        </p:spPr>
        <p:txBody>
          <a:bodyPr wrap="square" lIns="0" tIns="0" rIns="0" bIns="0" rtlCol="0" anchor="ctr"/>
          <a:lstStyle/>
          <a:p>
            <a:pPr indent="0" marL="0">
              <a:buNone/>
            </a:pPr>
            <a:r>
              <a:rPr lang="en-US" sz="900" i="1" dirty="0">
                <a:solidFill>
                  <a:srgbClr val="6B5D4F"/>
                </a:solidFill>
                <a:latin typeface="Calibri" pitchFamily="34" charset="0"/>
                <a:ea typeface="Calibri" pitchFamily="34" charset="-122"/>
                <a:cs typeface="Calibri" pitchFamily="34" charset="-120"/>
              </a:rPr>
              <a:t>Each untrusted input is tested against every transition applicable to it.</a:t>
            </a:r>
            <a:endParaRPr lang="en-US" sz="900" dirty="0"/>
          </a:p>
        </p:txBody>
      </p:sp>
      <p:sp>
        <p:nvSpPr>
          <p:cNvPr id="35" name="Text 33"/>
          <p:cNvSpPr/>
          <p:nvPr/>
        </p:nvSpPr>
        <p:spPr>
          <a:xfrm>
            <a:off x="7315200" y="1792224"/>
            <a:ext cx="2025396" cy="777240"/>
          </a:xfrm>
          <a:prstGeom prst="rect">
            <a:avLst/>
          </a:prstGeom>
          <a:noFill/>
          <a:ln/>
        </p:spPr>
        <p:txBody>
          <a:bodyPr wrap="square" lIns="0" tIns="0" rIns="0" bIns="0" rtlCol="0" anchor="t"/>
          <a:lstStyle/>
          <a:p>
            <a:pPr indent="0" marL="0">
              <a:lnSpc>
                <a:spcPct val="92000"/>
              </a:lnSpc>
              <a:buNone/>
            </a:pPr>
            <a:r>
              <a:rPr lang="en-US" sz="800" b="1" spc="100" dirty="0">
                <a:solidFill>
                  <a:srgbClr val="8F5A39"/>
                </a:solidFill>
                <a:latin typeface="Calibri" pitchFamily="34" charset="0"/>
                <a:ea typeface="Calibri" pitchFamily="34" charset="-122"/>
                <a:cs typeface="Calibri" pitchFamily="34" charset="-120"/>
              </a:rPr>
              <a:t>UNTRUSTED SOURCES</a:t>
            </a:r>
            <a:endParaRPr lang="en-US" sz="800" dirty="0"/>
          </a:p>
          <a:p>
            <a:pPr marL="114300" indent="-114300">
              <a:lnSpc>
                <a:spcPct val="92000"/>
              </a:lnSpc>
              <a:buSzPct val="100000"/>
              <a:buChar char="•"/>
            </a:pPr>
            <a:r>
              <a:rPr lang="en-US" sz="800" dirty="0">
                <a:solidFill>
                  <a:srgbClr val="1A1A1A"/>
                </a:solidFill>
                <a:latin typeface="Calibri" pitchFamily="34" charset="0"/>
                <a:ea typeface="Calibri" pitchFamily="34" charset="-122"/>
                <a:cs typeface="Calibri" pitchFamily="34" charset="-120"/>
              </a:rPr>
              <a:t>User message</a:t>
            </a:r>
            <a:endParaRPr lang="en-US" sz="800" dirty="0"/>
          </a:p>
          <a:p>
            <a:pPr marL="114300" indent="-114300">
              <a:lnSpc>
                <a:spcPct val="92000"/>
              </a:lnSpc>
              <a:buSzPct val="100000"/>
              <a:buChar char="•"/>
            </a:pPr>
            <a:r>
              <a:rPr lang="en-US" sz="800" dirty="0">
                <a:solidFill>
                  <a:srgbClr val="1A1A1A"/>
                </a:solidFill>
                <a:latin typeface="Calibri" pitchFamily="34" charset="0"/>
                <a:ea typeface="Calibri" pitchFamily="34" charset="-122"/>
                <a:cs typeface="Calibri" pitchFamily="34" charset="-120"/>
              </a:rPr>
              <a:t>External document (RAG)</a:t>
            </a:r>
            <a:endParaRPr lang="en-US" sz="800" dirty="0"/>
          </a:p>
          <a:p>
            <a:pPr marL="114300" indent="-114300">
              <a:lnSpc>
                <a:spcPct val="92000"/>
              </a:lnSpc>
              <a:buSzPct val="100000"/>
              <a:buChar char="•"/>
            </a:pPr>
            <a:r>
              <a:rPr lang="en-US" sz="800" dirty="0">
                <a:solidFill>
                  <a:srgbClr val="1A1A1A"/>
                </a:solidFill>
                <a:latin typeface="Calibri" pitchFamily="34" charset="0"/>
                <a:ea typeface="Calibri" pitchFamily="34" charset="-122"/>
                <a:cs typeface="Calibri" pitchFamily="34" charset="-120"/>
              </a:rPr>
              <a:t>Tool response</a:t>
            </a:r>
            <a:endParaRPr lang="en-US" sz="800" dirty="0"/>
          </a:p>
          <a:p>
            <a:pPr marL="114300" indent="-114300">
              <a:lnSpc>
                <a:spcPct val="92000"/>
              </a:lnSpc>
              <a:buSzPct val="100000"/>
              <a:buChar char="•"/>
            </a:pPr>
            <a:r>
              <a:rPr lang="en-US" sz="800" dirty="0">
                <a:solidFill>
                  <a:srgbClr val="1A1A1A"/>
                </a:solidFill>
                <a:latin typeface="Calibri" pitchFamily="34" charset="0"/>
                <a:ea typeface="Calibri" pitchFamily="34" charset="-122"/>
                <a:cs typeface="Calibri" pitchFamily="34" charset="-120"/>
              </a:rPr>
              <a:t>Peer agent message</a:t>
            </a:r>
            <a:endParaRPr lang="en-US" sz="800" dirty="0"/>
          </a:p>
          <a:p>
            <a:pPr marL="114300" indent="-114300">
              <a:lnSpc>
                <a:spcPct val="92000"/>
              </a:lnSpc>
              <a:buSzPct val="100000"/>
              <a:buChar char="•"/>
            </a:pPr>
            <a:r>
              <a:rPr lang="en-US" sz="800" dirty="0">
                <a:solidFill>
                  <a:srgbClr val="1A1A1A"/>
                </a:solidFill>
                <a:latin typeface="Calibri" pitchFamily="34" charset="0"/>
                <a:ea typeface="Calibri" pitchFamily="34" charset="-122"/>
                <a:cs typeface="Calibri" pitchFamily="34" charset="-120"/>
              </a:rPr>
              <a:t>Batch / queue record</a:t>
            </a:r>
            <a:endParaRPr lang="en-US" sz="800" dirty="0"/>
          </a:p>
        </p:txBody>
      </p:sp>
      <p:sp>
        <p:nvSpPr>
          <p:cNvPr id="36" name="Text 34"/>
          <p:cNvSpPr/>
          <p:nvPr/>
        </p:nvSpPr>
        <p:spPr>
          <a:xfrm>
            <a:off x="9432036" y="1792224"/>
            <a:ext cx="2025396" cy="777240"/>
          </a:xfrm>
          <a:prstGeom prst="rect">
            <a:avLst/>
          </a:prstGeom>
          <a:noFill/>
          <a:ln/>
        </p:spPr>
        <p:txBody>
          <a:bodyPr wrap="square" lIns="0" tIns="0" rIns="0" bIns="0" rtlCol="0" anchor="t"/>
          <a:lstStyle/>
          <a:p>
            <a:pPr indent="0" marL="0">
              <a:lnSpc>
                <a:spcPct val="92000"/>
              </a:lnSpc>
              <a:buNone/>
            </a:pPr>
            <a:r>
              <a:rPr lang="en-US" sz="800" b="1" spc="100" dirty="0">
                <a:solidFill>
                  <a:srgbClr val="8F5A39"/>
                </a:solidFill>
                <a:latin typeface="Calibri" pitchFamily="34" charset="0"/>
                <a:ea typeface="Calibri" pitchFamily="34" charset="-122"/>
                <a:cs typeface="Calibri" pitchFamily="34" charset="-120"/>
              </a:rPr>
              <a:t>EXAMPLE TRANSITIONS</a:t>
            </a:r>
            <a:endParaRPr lang="en-US" sz="800" dirty="0"/>
          </a:p>
          <a:p>
            <a:pPr marL="114300" indent="-114300">
              <a:lnSpc>
                <a:spcPct val="92000"/>
              </a:lnSpc>
              <a:buSzPct val="100000"/>
              <a:buChar char="•"/>
            </a:pPr>
            <a:r>
              <a:rPr lang="en-US" sz="800" dirty="0">
                <a:solidFill>
                  <a:srgbClr val="1A1A1A"/>
                </a:solidFill>
                <a:latin typeface="Calibri" pitchFamily="34" charset="0"/>
                <a:ea typeface="Calibri" pitchFamily="34" charset="-122"/>
                <a:cs typeface="Calibri" pitchFamily="34" charset="-120"/>
              </a:rPr>
              <a:t>Prompt / indirect injection</a:t>
            </a:r>
            <a:endParaRPr lang="en-US" sz="800" dirty="0"/>
          </a:p>
          <a:p>
            <a:pPr marL="114300" indent="-114300">
              <a:lnSpc>
                <a:spcPct val="92000"/>
              </a:lnSpc>
              <a:buSzPct val="100000"/>
              <a:buChar char="•"/>
            </a:pPr>
            <a:r>
              <a:rPr lang="en-US" sz="800" dirty="0">
                <a:solidFill>
                  <a:srgbClr val="1A1A1A"/>
                </a:solidFill>
                <a:latin typeface="Calibri" pitchFamily="34" charset="0"/>
                <a:ea typeface="Calibri" pitchFamily="34" charset="-122"/>
                <a:cs typeface="Calibri" pitchFamily="34" charset="-120"/>
              </a:rPr>
              <a:t>Tool-argument injection</a:t>
            </a:r>
            <a:endParaRPr lang="en-US" sz="800" dirty="0"/>
          </a:p>
          <a:p>
            <a:pPr marL="114300" indent="-114300">
              <a:lnSpc>
                <a:spcPct val="92000"/>
              </a:lnSpc>
              <a:buSzPct val="100000"/>
              <a:buChar char="•"/>
            </a:pPr>
            <a:r>
              <a:rPr lang="en-US" sz="800" dirty="0">
                <a:solidFill>
                  <a:srgbClr val="1A1A1A"/>
                </a:solidFill>
                <a:latin typeface="Calibri" pitchFamily="34" charset="0"/>
                <a:ea typeface="Calibri" pitchFamily="34" charset="-122"/>
                <a:cs typeface="Calibri" pitchFamily="34" charset="-120"/>
              </a:rPr>
              <a:t>Memory poisoning</a:t>
            </a:r>
            <a:endParaRPr lang="en-US" sz="800" dirty="0"/>
          </a:p>
          <a:p>
            <a:pPr marL="114300" indent="-114300">
              <a:lnSpc>
                <a:spcPct val="92000"/>
              </a:lnSpc>
              <a:buSzPct val="100000"/>
              <a:buChar char="•"/>
            </a:pPr>
            <a:r>
              <a:rPr lang="en-US" sz="800" dirty="0">
                <a:solidFill>
                  <a:srgbClr val="1A1A1A"/>
                </a:solidFill>
                <a:latin typeface="Calibri" pitchFamily="34" charset="0"/>
                <a:ea typeface="Calibri" pitchFamily="34" charset="-122"/>
                <a:cs typeface="Calibri" pitchFamily="34" charset="-120"/>
              </a:rPr>
              <a:t>Authority spoofing</a:t>
            </a:r>
            <a:endParaRPr lang="en-US" sz="800" dirty="0"/>
          </a:p>
          <a:p>
            <a:pPr marL="114300" indent="-114300">
              <a:lnSpc>
                <a:spcPct val="92000"/>
              </a:lnSpc>
              <a:buSzPct val="100000"/>
              <a:buChar char="•"/>
            </a:pPr>
            <a:r>
              <a:rPr lang="en-US" sz="800" dirty="0">
                <a:solidFill>
                  <a:srgbClr val="1A1A1A"/>
                </a:solidFill>
                <a:latin typeface="Calibri" pitchFamily="34" charset="0"/>
                <a:ea typeface="Calibri" pitchFamily="34" charset="-122"/>
                <a:cs typeface="Calibri" pitchFamily="34" charset="-120"/>
              </a:rPr>
              <a:t>Insecure output handling</a:t>
            </a:r>
            <a:endParaRPr lang="en-US" sz="800" dirty="0"/>
          </a:p>
        </p:txBody>
      </p:sp>
      <p:sp>
        <p:nvSpPr>
          <p:cNvPr id="37" name="Shape 35"/>
          <p:cNvSpPr/>
          <p:nvPr/>
        </p:nvSpPr>
        <p:spPr>
          <a:xfrm>
            <a:off x="457200" y="2852928"/>
            <a:ext cx="11274552" cy="2331720"/>
          </a:xfrm>
          <a:prstGeom prst="rect">
            <a:avLst/>
          </a:prstGeom>
          <a:solidFill>
            <a:srgbClr val="FBFAF8"/>
          </a:solidFill>
          <a:ln w="12700">
            <a:solidFill>
              <a:srgbClr val="E4DBCB"/>
            </a:solidFill>
            <a:prstDash val="solid"/>
          </a:ln>
          <a:effectLst>
            <a:outerShdw sx="100000" sy="100000" kx="0" ky="0" algn="bl" rotWithShape="0" blurRad="63500" dist="25400" dir="8100000">
              <a:srgbClr val="000000">
                <a:alpha val="12000"/>
              </a:srgbClr>
            </a:outerShdw>
          </a:effectLst>
        </p:spPr>
      </p:sp>
      <p:sp>
        <p:nvSpPr>
          <p:cNvPr id="38" name="Shape 36"/>
          <p:cNvSpPr/>
          <p:nvPr/>
        </p:nvSpPr>
        <p:spPr>
          <a:xfrm>
            <a:off x="457200" y="2852928"/>
            <a:ext cx="11274552" cy="64008"/>
          </a:xfrm>
          <a:prstGeom prst="rect">
            <a:avLst/>
          </a:prstGeom>
          <a:solidFill>
            <a:srgbClr val="A6714A"/>
          </a:solidFill>
          <a:ln w="12700">
            <a:solidFill>
              <a:srgbClr val="333333"/>
            </a:solidFill>
            <a:prstDash val="solid"/>
          </a:ln>
        </p:spPr>
      </p:sp>
      <p:sp>
        <p:nvSpPr>
          <p:cNvPr id="39" name="Text 37"/>
          <p:cNvSpPr/>
          <p:nvPr/>
        </p:nvSpPr>
        <p:spPr>
          <a:xfrm>
            <a:off x="685800" y="2999232"/>
            <a:ext cx="6400800" cy="237744"/>
          </a:xfrm>
          <a:prstGeom prst="rect">
            <a:avLst/>
          </a:prstGeom>
          <a:noFill/>
          <a:ln/>
        </p:spPr>
        <p:txBody>
          <a:bodyPr wrap="square" lIns="0" tIns="0" rIns="0" bIns="0" rtlCol="0" anchor="ctr"/>
          <a:lstStyle/>
          <a:p>
            <a:pPr indent="0" marL="0">
              <a:buNone/>
            </a:pPr>
            <a:r>
              <a:rPr lang="en-US" sz="1100" b="1" spc="150" kern="0" dirty="0">
                <a:solidFill>
                  <a:srgbClr val="5E3A24"/>
                </a:solidFill>
                <a:latin typeface="Calibri" pitchFamily="34" charset="0"/>
                <a:ea typeface="Calibri" pitchFamily="34" charset="-122"/>
                <a:cs typeface="Calibri" pitchFamily="34" charset="-120"/>
              </a:rPr>
              <a:t>SEED → MUTATION ESCALATION</a:t>
            </a:r>
            <a:endParaRPr lang="en-US" sz="1100" dirty="0"/>
          </a:p>
        </p:txBody>
      </p:sp>
      <p:sp>
        <p:nvSpPr>
          <p:cNvPr id="40" name="Text 38"/>
          <p:cNvSpPr/>
          <p:nvPr/>
        </p:nvSpPr>
        <p:spPr>
          <a:xfrm>
            <a:off x="685800" y="3200000"/>
            <a:ext cx="10789920" cy="350000"/>
          </a:xfrm>
          <a:prstGeom prst="rect">
            <a:avLst/>
          </a:prstGeom>
          <a:noFill/>
          <a:ln/>
        </p:spPr>
        <p:txBody>
          <a:bodyPr wrap="square" lIns="0" tIns="0" rIns="0" bIns="0" rtlCol="0" anchor="t"/>
          <a:lstStyle/>
          <a:p>
            <a:pPr indent="0" marL="0">
              <a:buNone/>
            </a:pPr>
            <a:r>
              <a:rPr lang="en-US" sz="1000" i="1" dirty="0">
                <a:solidFill>
                  <a:srgbClr val="6B5D4F"/>
                </a:solidFill>
                <a:latin typeface="Calibri" pitchFamily="34" charset="0"/>
                <a:ea typeface="Calibri" pitchFamily="34" charset="-122"/>
                <a:cs typeface="Calibri" pitchFamily="34" charset="-120"/>
              </a:rPr>
              <a:t>Per source × transition — generic payloads first, then adaptive mutations if all are blocked.</a:t>
            </a:r>
            <a:endParaRPr lang="en-US" sz="1000" dirty="0"/>
          </a:p>
          <a:p>
            <a:pPr indent="0" marL="0">
              <a:lnSpc>
                <a:spcPct val="100000"/>
              </a:lnSpc>
              <a:spcBef>
                <a:spcPts val="250"/>
              </a:spcBef>
              <a:buNone/>
            </a:pPr>
            <a:r>
              <a:rPr lang="en-US" sz="775" b="1" spc="80" dirty="0">
                <a:solidFill>
                  <a:srgbClr val="8F5A39"/>
                </a:solidFill>
                <a:latin typeface="Calibri" pitchFamily="34" charset="0"/>
              </a:rPr>
              <a:t xml:space="preserve">WALKTHROUGH  </a:t>
            </a:r>
            <a:r>
              <a:rPr lang="en-US" sz="800" dirty="0">
                <a:solidFill>
                  <a:srgbClr val="1A1A1A"/>
                </a:solidFill>
                <a:latin typeface="Calibri" pitchFamily="34" charset="0"/>
              </a:rPr>
              <a:t xml:space="preserve">Planner picks </a:t>
            </a:r>
            <a:r>
              <a:rPr lang="en-US" sz="800" b="1" dirty="0">
                <a:solidFill>
                  <a:srgbClr val="1A1A1A"/>
                </a:solidFill>
                <a:latin typeface="Consolas" pitchFamily="49" charset="0"/>
              </a:rPr>
              <a:t>POST /chat</a:t>
            </a:r>
            <a:r>
              <a:rPr lang="en-US" sz="800" dirty="0">
                <a:solidFill>
                  <a:srgbClr val="1A1A1A"/>
                </a:solidFill>
                <a:latin typeface="Calibri" pitchFamily="34" charset="0"/>
              </a:rPr>
              <a:t xml:space="preserve"> → user message → prompt injection.  Attacker fires C1–C3 — filter blocks all.  Attacker mutates: base64-encodes the override (M1) → </a:t>
            </a:r>
            <a:r>
              <a:rPr lang="en-US" sz="800" b="1" dirty="0">
                <a:solidFill>
                  <a:srgbClr val="C95B3F"/>
                </a:solidFill>
                <a:latin typeface="Calibri" pitchFamily="34" charset="0"/>
              </a:rPr>
              <a:t>lands</a:t>
            </a:r>
            <a:r>
              <a:rPr lang="en-US" sz="800" dirty="0">
                <a:solidFill>
                  <a:srgbClr val="1A1A1A"/>
                </a:solidFill>
                <a:latin typeface="Calibri" pitchFamily="34" charset="0"/>
              </a:rPr>
              <a:t xml:space="preserve">.  Judge marks </a:t>
            </a:r>
            <a:r>
              <a:rPr lang="en-US" sz="800" b="1" dirty="0">
                <a:solidFill>
                  <a:srgbClr val="C95B3F"/>
                </a:solidFill>
                <a:latin typeface="Calibri" pitchFamily="34" charset="0"/>
              </a:rPr>
              <a:t>partial</a:t>
            </a:r>
            <a:r>
              <a:rPr lang="en-US" sz="800" dirty="0">
                <a:solidFill>
                  <a:srgbClr val="1A1A1A"/>
                </a:solidFill>
                <a:latin typeface="Calibri" pitchFamily="34" charset="0"/>
              </a:rPr>
              <a:t xml:space="preserve"> — filter exists but missed encoded input.</a:t>
            </a:r>
            <a:endParaRPr lang="en-US" sz="800" dirty="0"/>
          </a:p>
        </p:txBody>
      </p:sp>
      <p:sp>
        <p:nvSpPr>
          <p:cNvPr id="41" name="Text 39"/>
          <p:cNvSpPr/>
          <p:nvPr/>
        </p:nvSpPr>
        <p:spPr>
          <a:xfrm>
            <a:off x="685800" y="3566160"/>
            <a:ext cx="1371600" cy="566928"/>
          </a:xfrm>
          <a:prstGeom prst="rect">
            <a:avLst/>
          </a:prstGeom>
          <a:noFill/>
          <a:ln/>
        </p:spPr>
        <p:txBody>
          <a:bodyPr wrap="square" lIns="0" tIns="0" rIns="0" bIns="0" rtlCol="0" anchor="ctr"/>
          <a:lstStyle/>
          <a:p>
            <a:pPr indent="0" marL="0">
              <a:lnSpc>
                <a:spcPct val="95000"/>
              </a:lnSpc>
              <a:buNone/>
            </a:pPr>
            <a:r>
              <a:rPr lang="en-US" sz="800" b="1" spc="80" kern="0" dirty="0">
                <a:solidFill>
                  <a:srgbClr val="8F5A39"/>
                </a:solidFill>
                <a:latin typeface="Calibri" pitchFamily="34" charset="0"/>
                <a:ea typeface="Calibri" pitchFamily="34" charset="-122"/>
                <a:cs typeface="Calibri" pitchFamily="34" charset="-120"/>
              </a:rPr>
              <a:t>GENERIC CATALOGUE PAYLOADS</a:t>
            </a:r>
            <a:endParaRPr lang="en-US" sz="800" dirty="0"/>
          </a:p>
          <a:p>
            <a:pPr indent="0" marL="0">
              <a:lnSpc>
                <a:spcPct val="95000"/>
              </a:lnSpc>
              <a:spcBef>
                <a:spcPts val="200"/>
              </a:spcBef>
              <a:buNone/>
            </a:pPr>
            <a:r>
              <a:rPr lang="en-US" sz="700" i="1" dirty="0">
                <a:solidFill>
                  <a:srgbClr val="6B5D4F"/>
                </a:solidFill>
                <a:latin typeface="Calibri" pitchFamily="34" charset="0"/>
              </a:rPr>
              <a:t>3 fixed payloads per class — not adapted from source</a:t>
            </a:r>
            <a:endParaRPr lang="en-US" sz="700" dirty="0"/>
          </a:p>
        </p:txBody>
      </p:sp>
      <p:sp>
        <p:nvSpPr>
          <p:cNvPr id="42" name="Shape 40"/>
          <p:cNvSpPr/>
          <p:nvPr/>
        </p:nvSpPr>
        <p:spPr>
          <a:xfrm>
            <a:off x="2148840" y="3584448"/>
            <a:ext cx="1783080" cy="566928"/>
          </a:xfrm>
          <a:prstGeom prst="roundRect">
            <a:avLst>
              <a:gd name="adj" fmla="val 9677"/>
            </a:avLst>
          </a:prstGeom>
          <a:solidFill>
            <a:srgbClr val="FFFFFF"/>
          </a:solidFill>
          <a:ln w="15875">
            <a:solidFill>
              <a:srgbClr val="8F5A39"/>
            </a:solidFill>
            <a:prstDash val="solid"/>
          </a:ln>
        </p:spPr>
      </p:sp>
      <p:sp>
        <p:nvSpPr>
          <p:cNvPr id="43" name="Text 41"/>
          <p:cNvSpPr/>
          <p:nvPr/>
        </p:nvSpPr>
        <p:spPr>
          <a:xfrm>
            <a:off x="2203704" y="3584448"/>
            <a:ext cx="1673352" cy="402336"/>
          </a:xfrm>
          <a:prstGeom prst="rect">
            <a:avLst/>
          </a:prstGeom>
          <a:noFill/>
          <a:ln/>
        </p:spPr>
        <p:txBody>
          <a:bodyPr wrap="square" lIns="0" tIns="0" rIns="0" bIns="0" rtlCol="0" anchor="ctr"/>
          <a:lstStyle/>
          <a:p>
            <a:pPr algn="ctr" indent="0" marL="0">
              <a:buNone/>
            </a:pPr>
            <a:r>
              <a:rPr lang="en-US" sz="1050" b="1" dirty="0">
                <a:solidFill>
                  <a:srgbClr val="8F5A39"/>
                </a:solidFill>
                <a:latin typeface="Calibri" pitchFamily="34" charset="0"/>
                <a:ea typeface="Calibri" pitchFamily="34" charset="-122"/>
                <a:cs typeface="Calibri" pitchFamily="34" charset="-120"/>
              </a:rPr>
              <a:t xml:space="preserve">C1  </a:t>
            </a:r>
            <a:pPr algn="ctr" indent="0" marL="0">
              <a:buNone/>
            </a:pPr>
            <a:r>
              <a:rPr lang="en-US" sz="1050" dirty="0">
                <a:solidFill>
                  <a:srgbClr val="1A1A1A"/>
                </a:solidFill>
                <a:latin typeface="Calibri" pitchFamily="34" charset="0"/>
                <a:ea typeface="Calibri" pitchFamily="34" charset="-122"/>
                <a:cs typeface="Calibri" pitchFamily="34" charset="-120"/>
              </a:rPr>
              <a:t>Blunt override</a:t>
            </a:r>
            <a:endParaRPr lang="en-US" sz="1050" dirty="0"/>
          </a:p>
        </p:txBody>
      </p:sp>
      <p:sp>
        <p:nvSpPr>
          <p:cNvPr id="44" name="Text 42"/>
          <p:cNvSpPr/>
          <p:nvPr/>
        </p:nvSpPr>
        <p:spPr>
          <a:xfrm>
            <a:off x="2148840" y="3968496"/>
            <a:ext cx="1783080" cy="164592"/>
          </a:xfrm>
          <a:prstGeom prst="rect">
            <a:avLst/>
          </a:prstGeom>
          <a:noFill/>
          <a:ln/>
        </p:spPr>
        <p:txBody>
          <a:bodyPr wrap="square" lIns="0" tIns="0" rIns="0" bIns="0" rtlCol="0" anchor="ctr"/>
          <a:lstStyle/>
          <a:p>
            <a:pPr algn="ctr" indent="0" marL="0">
              <a:buNone/>
            </a:pPr>
            <a:r>
              <a:rPr lang="en-US" sz="800" i="1" dirty="0">
                <a:solidFill>
                  <a:srgbClr val="6B5D4F"/>
                </a:solidFill>
              </a:rPr>
              <a:t>blocked</a:t>
            </a:r>
            <a:endParaRPr lang="en-US" sz="800" dirty="0"/>
          </a:p>
        </p:txBody>
      </p:sp>
      <p:sp>
        <p:nvSpPr>
          <p:cNvPr id="45" name="Text 43"/>
          <p:cNvSpPr/>
          <p:nvPr/>
        </p:nvSpPr>
        <p:spPr>
          <a:xfrm>
            <a:off x="3931920" y="3584448"/>
            <a:ext cx="457200" cy="566928"/>
          </a:xfrm>
          <a:prstGeom prst="rect">
            <a:avLst/>
          </a:prstGeom>
          <a:noFill/>
          <a:ln/>
        </p:spPr>
        <p:txBody>
          <a:bodyPr wrap="square" lIns="0" tIns="0" rIns="0" bIns="0" rtlCol="0" anchor="ctr"/>
          <a:lstStyle/>
          <a:p>
            <a:pPr algn="ctr" indent="0" marL="0">
              <a:buNone/>
            </a:pPr>
            <a:r>
              <a:rPr lang="en-US" sz="1800" b="1" dirty="0">
                <a:solidFill>
                  <a:srgbClr val="A6714A"/>
                </a:solidFill>
              </a:rPr>
              <a:t>→</a:t>
            </a:r>
            <a:endParaRPr lang="en-US" sz="1800" dirty="0"/>
          </a:p>
        </p:txBody>
      </p:sp>
      <p:sp>
        <p:nvSpPr>
          <p:cNvPr id="46" name="Shape 44"/>
          <p:cNvSpPr/>
          <p:nvPr/>
        </p:nvSpPr>
        <p:spPr>
          <a:xfrm>
            <a:off x="4389120" y="3584448"/>
            <a:ext cx="1783080" cy="566928"/>
          </a:xfrm>
          <a:prstGeom prst="roundRect">
            <a:avLst>
              <a:gd name="adj" fmla="val 9677"/>
            </a:avLst>
          </a:prstGeom>
          <a:solidFill>
            <a:srgbClr val="FFFFFF"/>
          </a:solidFill>
          <a:ln w="15875">
            <a:solidFill>
              <a:srgbClr val="8F5A39"/>
            </a:solidFill>
            <a:prstDash val="solid"/>
          </a:ln>
        </p:spPr>
      </p:sp>
      <p:sp>
        <p:nvSpPr>
          <p:cNvPr id="47" name="Text 45"/>
          <p:cNvSpPr/>
          <p:nvPr/>
        </p:nvSpPr>
        <p:spPr>
          <a:xfrm>
            <a:off x="4443984" y="3584448"/>
            <a:ext cx="1673352" cy="402336"/>
          </a:xfrm>
          <a:prstGeom prst="rect">
            <a:avLst/>
          </a:prstGeom>
          <a:noFill/>
          <a:ln/>
        </p:spPr>
        <p:txBody>
          <a:bodyPr wrap="square" lIns="0" tIns="0" rIns="0" bIns="0" rtlCol="0" anchor="ctr"/>
          <a:lstStyle/>
          <a:p>
            <a:pPr algn="ctr" indent="0" marL="0">
              <a:buNone/>
            </a:pPr>
            <a:r>
              <a:rPr lang="en-US" sz="1050" b="1" dirty="0">
                <a:solidFill>
                  <a:srgbClr val="8F5A39"/>
                </a:solidFill>
                <a:latin typeface="Calibri" pitchFamily="34" charset="0"/>
                <a:ea typeface="Calibri" pitchFamily="34" charset="-122"/>
                <a:cs typeface="Calibri" pitchFamily="34" charset="-120"/>
              </a:rPr>
              <a:t xml:space="preserve">C2  </a:t>
            </a:r>
            <a:pPr algn="ctr" indent="0" marL="0">
              <a:buNone/>
            </a:pPr>
            <a:r>
              <a:rPr lang="en-US" sz="1050" dirty="0">
                <a:solidFill>
                  <a:srgbClr val="1A1A1A"/>
                </a:solidFill>
                <a:latin typeface="Calibri" pitchFamily="34" charset="0"/>
                <a:ea typeface="Calibri" pitchFamily="34" charset="-122"/>
                <a:cs typeface="Calibri" pitchFamily="34" charset="-120"/>
              </a:rPr>
              <a:t>Social engineering</a:t>
            </a:r>
            <a:endParaRPr lang="en-US" sz="1050" dirty="0"/>
          </a:p>
        </p:txBody>
      </p:sp>
      <p:sp>
        <p:nvSpPr>
          <p:cNvPr id="48" name="Text 46"/>
          <p:cNvSpPr/>
          <p:nvPr/>
        </p:nvSpPr>
        <p:spPr>
          <a:xfrm>
            <a:off x="4389120" y="3968496"/>
            <a:ext cx="1783080" cy="164592"/>
          </a:xfrm>
          <a:prstGeom prst="rect">
            <a:avLst/>
          </a:prstGeom>
          <a:noFill/>
          <a:ln/>
        </p:spPr>
        <p:txBody>
          <a:bodyPr wrap="square" lIns="0" tIns="0" rIns="0" bIns="0" rtlCol="0" anchor="ctr"/>
          <a:lstStyle/>
          <a:p>
            <a:pPr algn="ctr" indent="0" marL="0">
              <a:buNone/>
            </a:pPr>
            <a:r>
              <a:rPr lang="en-US" sz="800" i="1" dirty="0">
                <a:solidFill>
                  <a:srgbClr val="6B5D4F"/>
                </a:solidFill>
              </a:rPr>
              <a:t>blocked</a:t>
            </a:r>
            <a:endParaRPr lang="en-US" sz="800" dirty="0"/>
          </a:p>
        </p:txBody>
      </p:sp>
      <p:sp>
        <p:nvSpPr>
          <p:cNvPr id="49" name="Text 47"/>
          <p:cNvSpPr/>
          <p:nvPr/>
        </p:nvSpPr>
        <p:spPr>
          <a:xfrm>
            <a:off x="6172200" y="3584448"/>
            <a:ext cx="457200" cy="566928"/>
          </a:xfrm>
          <a:prstGeom prst="rect">
            <a:avLst/>
          </a:prstGeom>
          <a:noFill/>
          <a:ln/>
        </p:spPr>
        <p:txBody>
          <a:bodyPr wrap="square" lIns="0" tIns="0" rIns="0" bIns="0" rtlCol="0" anchor="ctr"/>
          <a:lstStyle/>
          <a:p>
            <a:pPr algn="ctr" indent="0" marL="0">
              <a:buNone/>
            </a:pPr>
            <a:r>
              <a:rPr lang="en-US" sz="1800" b="1" dirty="0">
                <a:solidFill>
                  <a:srgbClr val="A6714A"/>
                </a:solidFill>
              </a:rPr>
              <a:t>→</a:t>
            </a:r>
            <a:endParaRPr lang="en-US" sz="1800" dirty="0"/>
          </a:p>
        </p:txBody>
      </p:sp>
      <p:sp>
        <p:nvSpPr>
          <p:cNvPr id="50" name="Shape 48"/>
          <p:cNvSpPr/>
          <p:nvPr/>
        </p:nvSpPr>
        <p:spPr>
          <a:xfrm>
            <a:off x="6629400" y="3584448"/>
            <a:ext cx="1783080" cy="566928"/>
          </a:xfrm>
          <a:prstGeom prst="roundRect">
            <a:avLst>
              <a:gd name="adj" fmla="val 9677"/>
            </a:avLst>
          </a:prstGeom>
          <a:solidFill>
            <a:srgbClr val="FFFFFF"/>
          </a:solidFill>
          <a:ln w="15875">
            <a:solidFill>
              <a:srgbClr val="8F5A39"/>
            </a:solidFill>
            <a:prstDash val="solid"/>
          </a:ln>
        </p:spPr>
      </p:sp>
      <p:sp>
        <p:nvSpPr>
          <p:cNvPr id="51" name="Text 49"/>
          <p:cNvSpPr/>
          <p:nvPr/>
        </p:nvSpPr>
        <p:spPr>
          <a:xfrm>
            <a:off x="6684264" y="3584448"/>
            <a:ext cx="1673352" cy="402336"/>
          </a:xfrm>
          <a:prstGeom prst="rect">
            <a:avLst/>
          </a:prstGeom>
          <a:noFill/>
          <a:ln/>
        </p:spPr>
        <p:txBody>
          <a:bodyPr wrap="square" lIns="0" tIns="0" rIns="0" bIns="0" rtlCol="0" anchor="ctr"/>
          <a:lstStyle/>
          <a:p>
            <a:pPr algn="ctr" indent="0" marL="0">
              <a:buNone/>
            </a:pPr>
            <a:r>
              <a:rPr lang="en-US" sz="1050" b="1" dirty="0">
                <a:solidFill>
                  <a:srgbClr val="8F5A39"/>
                </a:solidFill>
                <a:latin typeface="Calibri" pitchFamily="34" charset="0"/>
                <a:ea typeface="Calibri" pitchFamily="34" charset="-122"/>
                <a:cs typeface="Calibri" pitchFamily="34" charset="-120"/>
              </a:rPr>
              <a:t xml:space="preserve">C3  </a:t>
            </a:r>
            <a:pPr algn="ctr" indent="0" marL="0">
              <a:buNone/>
            </a:pPr>
            <a:r>
              <a:rPr lang="en-US" sz="1050" dirty="0">
                <a:solidFill>
                  <a:srgbClr val="1A1A1A"/>
                </a:solidFill>
                <a:latin typeface="Calibri" pitchFamily="34" charset="0"/>
                <a:ea typeface="Calibri" pitchFamily="34" charset="-122"/>
                <a:cs typeface="Calibri" pitchFamily="34" charset="-120"/>
              </a:rPr>
              <a:t>Fake authority</a:t>
            </a:r>
            <a:endParaRPr lang="en-US" sz="1050" dirty="0"/>
          </a:p>
        </p:txBody>
      </p:sp>
      <p:sp>
        <p:nvSpPr>
          <p:cNvPr id="52" name="Text 50"/>
          <p:cNvSpPr/>
          <p:nvPr/>
        </p:nvSpPr>
        <p:spPr>
          <a:xfrm>
            <a:off x="6629400" y="3968496"/>
            <a:ext cx="1783080" cy="164592"/>
          </a:xfrm>
          <a:prstGeom prst="rect">
            <a:avLst/>
          </a:prstGeom>
          <a:noFill/>
          <a:ln/>
        </p:spPr>
        <p:txBody>
          <a:bodyPr wrap="square" lIns="0" tIns="0" rIns="0" bIns="0" rtlCol="0" anchor="ctr"/>
          <a:lstStyle/>
          <a:p>
            <a:pPr algn="ctr" indent="0" marL="0">
              <a:buNone/>
            </a:pPr>
            <a:r>
              <a:rPr lang="en-US" sz="800" i="1" dirty="0">
                <a:solidFill>
                  <a:srgbClr val="6B5D4F"/>
                </a:solidFill>
              </a:rPr>
              <a:t>blocked</a:t>
            </a:r>
            <a:endParaRPr lang="en-US" sz="800" dirty="0"/>
          </a:p>
        </p:txBody>
      </p:sp>
      <p:sp>
        <p:nvSpPr>
          <p:cNvPr id="53" name="Text 51"/>
          <p:cNvSpPr/>
          <p:nvPr/>
        </p:nvSpPr>
        <p:spPr>
          <a:xfrm>
            <a:off x="8549640" y="3584448"/>
            <a:ext cx="1554480" cy="566928"/>
          </a:xfrm>
          <a:prstGeom prst="rect">
            <a:avLst/>
          </a:prstGeom>
          <a:noFill/>
          <a:ln/>
        </p:spPr>
        <p:txBody>
          <a:bodyPr wrap="square" lIns="0" tIns="0" rIns="0" bIns="0" rtlCol="0" anchor="ctr"/>
          <a:lstStyle/>
          <a:p>
            <a:pPr algn="l" indent="0" marL="0">
              <a:buNone/>
            </a:pPr>
            <a:r>
              <a:rPr lang="en-US" sz="900" b="1" i="1" dirty="0">
                <a:solidFill>
                  <a:srgbClr val="5E3A24"/>
                </a:solidFill>
                <a:latin typeface="Calibri" pitchFamily="34" charset="0"/>
                <a:ea typeface="Calibri" pitchFamily="34" charset="-122"/>
                <a:cs typeface="Calibri" pitchFamily="34" charset="-120"/>
              </a:rPr>
              <a:t>all 3 blocked  ↓</a:t>
            </a:r>
            <a:endParaRPr lang="en-US" sz="900" dirty="0"/>
          </a:p>
        </p:txBody>
      </p:sp>
      <p:sp>
        <p:nvSpPr>
          <p:cNvPr id="54" name="Text 52"/>
          <p:cNvSpPr/>
          <p:nvPr/>
        </p:nvSpPr>
        <p:spPr>
          <a:xfrm>
            <a:off x="685800" y="4517136"/>
            <a:ext cx="1371600" cy="603504"/>
          </a:xfrm>
          <a:prstGeom prst="rect">
            <a:avLst/>
          </a:prstGeom>
          <a:noFill/>
          <a:ln/>
        </p:spPr>
        <p:txBody>
          <a:bodyPr wrap="square" lIns="0" tIns="0" rIns="0" bIns="0" rtlCol="0" anchor="ctr"/>
          <a:lstStyle/>
          <a:p>
            <a:pPr indent="0" marL="0">
              <a:lnSpc>
                <a:spcPct val="95000"/>
              </a:lnSpc>
              <a:buNone/>
            </a:pPr>
            <a:r>
              <a:rPr lang="en-US" sz="800" b="1" spc="80" kern="0" dirty="0">
                <a:solidFill>
                  <a:srgbClr val="8F5A39"/>
                </a:solidFill>
                <a:latin typeface="Calibri" pitchFamily="34" charset="0"/>
                <a:ea typeface="Calibri" pitchFamily="34" charset="-122"/>
                <a:cs typeface="Calibri" pitchFamily="34" charset="-120"/>
              </a:rPr>
              <a:t>ADAPTIVE MUTATIONS</a:t>
            </a:r>
            <a:endParaRPr lang="en-US" sz="800" dirty="0"/>
          </a:p>
          <a:p>
            <a:pPr indent="0" marL="0">
              <a:lnSpc>
                <a:spcPct val="95000"/>
              </a:lnSpc>
              <a:spcBef>
                <a:spcPts val="200"/>
              </a:spcBef>
              <a:buNone/>
            </a:pPr>
            <a:r>
              <a:rPr lang="en-US" sz="700" i="1" dirty="0">
                <a:solidFill>
                  <a:srgbClr val="6B5D4F"/>
                </a:solidFill>
                <a:latin typeface="Calibri" pitchFamily="34" charset="0"/>
              </a:rPr>
              <a:t>each targets the specific defence that blocked the previous attempt</a:t>
            </a:r>
            <a:endParaRPr lang="en-US" sz="700" dirty="0"/>
          </a:p>
        </p:txBody>
      </p:sp>
      <p:sp>
        <p:nvSpPr>
          <p:cNvPr id="55" name="Shape 53"/>
          <p:cNvSpPr/>
          <p:nvPr/>
        </p:nvSpPr>
        <p:spPr>
          <a:xfrm>
            <a:off x="2148840" y="4535424"/>
            <a:ext cx="1583741" cy="603504"/>
          </a:xfrm>
          <a:prstGeom prst="roundRect">
            <a:avLst>
              <a:gd name="adj" fmla="val 9091"/>
            </a:avLst>
          </a:prstGeom>
          <a:solidFill>
            <a:srgbClr val="F4EFE7"/>
          </a:solidFill>
          <a:ln w="12700">
            <a:solidFill>
              <a:srgbClr val="A6714A"/>
            </a:solidFill>
            <a:prstDash val="solid"/>
          </a:ln>
        </p:spPr>
      </p:sp>
      <p:sp>
        <p:nvSpPr>
          <p:cNvPr id="56" name="Text 54"/>
          <p:cNvSpPr/>
          <p:nvPr/>
        </p:nvSpPr>
        <p:spPr>
          <a:xfrm>
            <a:off x="2148840" y="4572000"/>
            <a:ext cx="1583741" cy="237744"/>
          </a:xfrm>
          <a:prstGeom prst="rect">
            <a:avLst/>
          </a:prstGeom>
          <a:noFill/>
          <a:ln/>
        </p:spPr>
        <p:txBody>
          <a:bodyPr wrap="square" lIns="0" tIns="0" rIns="0" bIns="0" rtlCol="0" anchor="ctr"/>
          <a:lstStyle/>
          <a:p>
            <a:pPr algn="ctr" indent="0" marL="0">
              <a:buNone/>
            </a:pPr>
            <a:r>
              <a:rPr lang="en-US" sz="1200" b="1" dirty="0">
                <a:solidFill>
                  <a:srgbClr val="5E3A24"/>
                </a:solidFill>
              </a:rPr>
              <a:t>M1</a:t>
            </a:r>
            <a:endParaRPr lang="en-US" sz="1200" dirty="0"/>
          </a:p>
        </p:txBody>
      </p:sp>
      <p:sp>
        <p:nvSpPr>
          <p:cNvPr id="57" name="Text 55"/>
          <p:cNvSpPr/>
          <p:nvPr/>
        </p:nvSpPr>
        <p:spPr>
          <a:xfrm>
            <a:off x="2194560" y="4791456"/>
            <a:ext cx="1492301" cy="329184"/>
          </a:xfrm>
          <a:prstGeom prst="rect">
            <a:avLst/>
          </a:prstGeom>
          <a:noFill/>
          <a:ln/>
        </p:spPr>
        <p:txBody>
          <a:bodyPr wrap="square" lIns="0" tIns="0" rIns="0" bIns="0" rtlCol="0" anchor="t"/>
          <a:lstStyle/>
          <a:p>
            <a:pPr algn="ctr" indent="0" marL="0">
              <a:lnSpc>
                <a:spcPct val="95000"/>
              </a:lnSpc>
              <a:buNone/>
            </a:pPr>
            <a:r>
              <a:rPr lang="en-US" sz="740" dirty="0">
                <a:solidFill>
                  <a:srgbClr val="1A1A1A"/>
                </a:solidFill>
              </a:rPr>
              <a:t>targets the defence that blocked C3</a:t>
            </a:r>
            <a:endParaRPr lang="en-US" sz="740" dirty="0"/>
          </a:p>
        </p:txBody>
      </p:sp>
      <p:sp>
        <p:nvSpPr>
          <p:cNvPr id="58" name="Text 56"/>
          <p:cNvSpPr/>
          <p:nvPr/>
        </p:nvSpPr>
        <p:spPr>
          <a:xfrm>
            <a:off x="3732581" y="4535424"/>
            <a:ext cx="256032" cy="603504"/>
          </a:xfrm>
          <a:prstGeom prst="rect">
            <a:avLst/>
          </a:prstGeom>
          <a:noFill/>
          <a:ln/>
        </p:spPr>
        <p:txBody>
          <a:bodyPr wrap="square" lIns="0" tIns="0" rIns="0" bIns="0" rtlCol="0" anchor="ctr"/>
          <a:lstStyle/>
          <a:p>
            <a:pPr algn="ctr" indent="0" marL="0">
              <a:buNone/>
            </a:pPr>
            <a:r>
              <a:rPr lang="en-US" sz="1400" b="1" dirty="0">
                <a:solidFill>
                  <a:srgbClr val="A6714A"/>
                </a:solidFill>
              </a:rPr>
              <a:t>→</a:t>
            </a:r>
            <a:endParaRPr lang="en-US" sz="1400" dirty="0"/>
          </a:p>
        </p:txBody>
      </p:sp>
      <p:sp>
        <p:nvSpPr>
          <p:cNvPr id="59" name="Shape 57"/>
          <p:cNvSpPr/>
          <p:nvPr/>
        </p:nvSpPr>
        <p:spPr>
          <a:xfrm>
            <a:off x="3988613" y="4535424"/>
            <a:ext cx="1583741" cy="603504"/>
          </a:xfrm>
          <a:prstGeom prst="roundRect">
            <a:avLst>
              <a:gd name="adj" fmla="val 9091"/>
            </a:avLst>
          </a:prstGeom>
          <a:solidFill>
            <a:srgbClr val="F4EFE7"/>
          </a:solidFill>
          <a:ln w="12700">
            <a:solidFill>
              <a:srgbClr val="A6714A"/>
            </a:solidFill>
            <a:prstDash val="solid"/>
          </a:ln>
        </p:spPr>
      </p:sp>
      <p:sp>
        <p:nvSpPr>
          <p:cNvPr id="60" name="Text 58"/>
          <p:cNvSpPr/>
          <p:nvPr/>
        </p:nvSpPr>
        <p:spPr>
          <a:xfrm>
            <a:off x="3988613" y="4572000"/>
            <a:ext cx="1583741" cy="237744"/>
          </a:xfrm>
          <a:prstGeom prst="rect">
            <a:avLst/>
          </a:prstGeom>
          <a:noFill/>
          <a:ln/>
        </p:spPr>
        <p:txBody>
          <a:bodyPr wrap="square" lIns="0" tIns="0" rIns="0" bIns="0" rtlCol="0" anchor="ctr"/>
          <a:lstStyle/>
          <a:p>
            <a:pPr algn="ctr" indent="0" marL="0">
              <a:buNone/>
            </a:pPr>
            <a:r>
              <a:rPr lang="en-US" sz="1200" b="1" dirty="0">
                <a:solidFill>
                  <a:srgbClr val="5E3A24"/>
                </a:solidFill>
              </a:rPr>
              <a:t>M2</a:t>
            </a:r>
            <a:endParaRPr lang="en-US" sz="1200" dirty="0"/>
          </a:p>
        </p:txBody>
      </p:sp>
      <p:sp>
        <p:nvSpPr>
          <p:cNvPr id="61" name="Text 59"/>
          <p:cNvSpPr/>
          <p:nvPr/>
        </p:nvSpPr>
        <p:spPr>
          <a:xfrm>
            <a:off x="4034333" y="4791456"/>
            <a:ext cx="1492301" cy="329184"/>
          </a:xfrm>
          <a:prstGeom prst="rect">
            <a:avLst/>
          </a:prstGeom>
          <a:noFill/>
          <a:ln/>
        </p:spPr>
        <p:txBody>
          <a:bodyPr wrap="square" lIns="0" tIns="0" rIns="0" bIns="0" rtlCol="0" anchor="t"/>
          <a:lstStyle/>
          <a:p>
            <a:pPr algn="ctr" indent="0" marL="0">
              <a:lnSpc>
                <a:spcPct val="95000"/>
              </a:lnSpc>
              <a:buNone/>
            </a:pPr>
            <a:r>
              <a:rPr lang="en-US" sz="740" dirty="0">
                <a:solidFill>
                  <a:srgbClr val="1A1A1A"/>
                </a:solidFill>
              </a:rPr>
              <a:t>adapts to M1's block</a:t>
            </a:r>
            <a:endParaRPr lang="en-US" sz="740" dirty="0"/>
          </a:p>
        </p:txBody>
      </p:sp>
      <p:sp>
        <p:nvSpPr>
          <p:cNvPr id="62" name="Text 60"/>
          <p:cNvSpPr/>
          <p:nvPr/>
        </p:nvSpPr>
        <p:spPr>
          <a:xfrm>
            <a:off x="5572354" y="4535424"/>
            <a:ext cx="256032" cy="603504"/>
          </a:xfrm>
          <a:prstGeom prst="rect">
            <a:avLst/>
          </a:prstGeom>
          <a:noFill/>
          <a:ln/>
        </p:spPr>
        <p:txBody>
          <a:bodyPr wrap="square" lIns="0" tIns="0" rIns="0" bIns="0" rtlCol="0" anchor="ctr"/>
          <a:lstStyle/>
          <a:p>
            <a:pPr algn="ctr" indent="0" marL="0">
              <a:buNone/>
            </a:pPr>
            <a:r>
              <a:rPr lang="en-US" sz="1400" b="1" dirty="0">
                <a:solidFill>
                  <a:srgbClr val="A6714A"/>
                </a:solidFill>
              </a:rPr>
              <a:t>→</a:t>
            </a:r>
            <a:endParaRPr lang="en-US" sz="1400" dirty="0"/>
          </a:p>
        </p:txBody>
      </p:sp>
      <p:sp>
        <p:nvSpPr>
          <p:cNvPr id="63" name="Shape 61"/>
          <p:cNvSpPr/>
          <p:nvPr/>
        </p:nvSpPr>
        <p:spPr>
          <a:xfrm>
            <a:off x="5828386" y="4535424"/>
            <a:ext cx="1583741" cy="603504"/>
          </a:xfrm>
          <a:prstGeom prst="roundRect">
            <a:avLst>
              <a:gd name="adj" fmla="val 9091"/>
            </a:avLst>
          </a:prstGeom>
          <a:solidFill>
            <a:srgbClr val="F4EFE7"/>
          </a:solidFill>
          <a:ln w="12700">
            <a:solidFill>
              <a:srgbClr val="A6714A"/>
            </a:solidFill>
            <a:prstDash val="solid"/>
          </a:ln>
        </p:spPr>
      </p:sp>
      <p:sp>
        <p:nvSpPr>
          <p:cNvPr id="64" name="Text 62"/>
          <p:cNvSpPr/>
          <p:nvPr/>
        </p:nvSpPr>
        <p:spPr>
          <a:xfrm>
            <a:off x="5828386" y="4572000"/>
            <a:ext cx="1583741" cy="237744"/>
          </a:xfrm>
          <a:prstGeom prst="rect">
            <a:avLst/>
          </a:prstGeom>
          <a:noFill/>
          <a:ln/>
        </p:spPr>
        <p:txBody>
          <a:bodyPr wrap="square" lIns="0" tIns="0" rIns="0" bIns="0" rtlCol="0" anchor="ctr"/>
          <a:lstStyle/>
          <a:p>
            <a:pPr algn="ctr" indent="0" marL="0">
              <a:buNone/>
            </a:pPr>
            <a:r>
              <a:rPr lang="en-US" sz="1200" b="1" dirty="0">
                <a:solidFill>
                  <a:srgbClr val="5E3A24"/>
                </a:solidFill>
              </a:rPr>
              <a:t>M3</a:t>
            </a:r>
            <a:endParaRPr lang="en-US" sz="1200" dirty="0"/>
          </a:p>
        </p:txBody>
      </p:sp>
      <p:sp>
        <p:nvSpPr>
          <p:cNvPr id="65" name="Text 63"/>
          <p:cNvSpPr/>
          <p:nvPr/>
        </p:nvSpPr>
        <p:spPr>
          <a:xfrm>
            <a:off x="5874106" y="4791456"/>
            <a:ext cx="1492301" cy="329184"/>
          </a:xfrm>
          <a:prstGeom prst="rect">
            <a:avLst/>
          </a:prstGeom>
          <a:noFill/>
          <a:ln/>
        </p:spPr>
        <p:txBody>
          <a:bodyPr wrap="square" lIns="0" tIns="0" rIns="0" bIns="0" rtlCol="0" anchor="t"/>
          <a:lstStyle/>
          <a:p>
            <a:pPr algn="ctr" indent="0" marL="0">
              <a:lnSpc>
                <a:spcPct val="95000"/>
              </a:lnSpc>
              <a:buNone/>
            </a:pPr>
            <a:r>
              <a:rPr lang="en-US" sz="740" dirty="0">
                <a:solidFill>
                  <a:srgbClr val="1A1A1A"/>
                </a:solidFill>
              </a:rPr>
              <a:t>adapts to M2's block</a:t>
            </a:r>
            <a:endParaRPr lang="en-US" sz="740" dirty="0"/>
          </a:p>
        </p:txBody>
      </p:sp>
      <p:sp>
        <p:nvSpPr>
          <p:cNvPr id="66" name="Text 64"/>
          <p:cNvSpPr/>
          <p:nvPr/>
        </p:nvSpPr>
        <p:spPr>
          <a:xfrm>
            <a:off x="7412126" y="4535424"/>
            <a:ext cx="256032" cy="603504"/>
          </a:xfrm>
          <a:prstGeom prst="rect">
            <a:avLst/>
          </a:prstGeom>
          <a:noFill/>
          <a:ln/>
        </p:spPr>
        <p:txBody>
          <a:bodyPr wrap="square" lIns="0" tIns="0" rIns="0" bIns="0" rtlCol="0" anchor="ctr"/>
          <a:lstStyle/>
          <a:p>
            <a:pPr algn="ctr" indent="0" marL="0">
              <a:buNone/>
            </a:pPr>
            <a:r>
              <a:rPr lang="en-US" sz="1400" b="1" dirty="0">
                <a:solidFill>
                  <a:srgbClr val="A6714A"/>
                </a:solidFill>
              </a:rPr>
              <a:t>→</a:t>
            </a:r>
            <a:endParaRPr lang="en-US" sz="1400" dirty="0"/>
          </a:p>
        </p:txBody>
      </p:sp>
      <p:sp>
        <p:nvSpPr>
          <p:cNvPr id="67" name="Shape 65"/>
          <p:cNvSpPr/>
          <p:nvPr/>
        </p:nvSpPr>
        <p:spPr>
          <a:xfrm>
            <a:off x="7668158" y="4535424"/>
            <a:ext cx="1583741" cy="603504"/>
          </a:xfrm>
          <a:prstGeom prst="roundRect">
            <a:avLst>
              <a:gd name="adj" fmla="val 9091"/>
            </a:avLst>
          </a:prstGeom>
          <a:solidFill>
            <a:srgbClr val="F4EFE7"/>
          </a:solidFill>
          <a:ln w="12700">
            <a:solidFill>
              <a:srgbClr val="A6714A"/>
            </a:solidFill>
            <a:prstDash val="solid"/>
          </a:ln>
        </p:spPr>
      </p:sp>
      <p:sp>
        <p:nvSpPr>
          <p:cNvPr id="68" name="Text 66"/>
          <p:cNvSpPr/>
          <p:nvPr/>
        </p:nvSpPr>
        <p:spPr>
          <a:xfrm>
            <a:off x="7668158" y="4572000"/>
            <a:ext cx="1583741" cy="237744"/>
          </a:xfrm>
          <a:prstGeom prst="rect">
            <a:avLst/>
          </a:prstGeom>
          <a:noFill/>
          <a:ln/>
        </p:spPr>
        <p:txBody>
          <a:bodyPr wrap="square" lIns="0" tIns="0" rIns="0" bIns="0" rtlCol="0" anchor="ctr"/>
          <a:lstStyle/>
          <a:p>
            <a:pPr algn="ctr" indent="0" marL="0">
              <a:buNone/>
            </a:pPr>
            <a:r>
              <a:rPr lang="en-US" sz="1200" b="1" dirty="0">
                <a:solidFill>
                  <a:srgbClr val="5E3A24"/>
                </a:solidFill>
              </a:rPr>
              <a:t>M4</a:t>
            </a:r>
            <a:endParaRPr lang="en-US" sz="1200" dirty="0"/>
          </a:p>
        </p:txBody>
      </p:sp>
      <p:sp>
        <p:nvSpPr>
          <p:cNvPr id="69" name="Text 67"/>
          <p:cNvSpPr/>
          <p:nvPr/>
        </p:nvSpPr>
        <p:spPr>
          <a:xfrm>
            <a:off x="7713878" y="4791456"/>
            <a:ext cx="1492301" cy="329184"/>
          </a:xfrm>
          <a:prstGeom prst="rect">
            <a:avLst/>
          </a:prstGeom>
          <a:noFill/>
          <a:ln/>
        </p:spPr>
        <p:txBody>
          <a:bodyPr wrap="square" lIns="0" tIns="0" rIns="0" bIns="0" rtlCol="0" anchor="t"/>
          <a:lstStyle/>
          <a:p>
            <a:pPr algn="ctr" indent="0" marL="0">
              <a:lnSpc>
                <a:spcPct val="95000"/>
              </a:lnSpc>
              <a:buNone/>
            </a:pPr>
            <a:r>
              <a:rPr lang="en-US" sz="740" dirty="0">
                <a:solidFill>
                  <a:srgbClr val="1A1A1A"/>
                </a:solidFill>
              </a:rPr>
              <a:t>adapts to M3's block</a:t>
            </a:r>
            <a:endParaRPr lang="en-US" sz="740" dirty="0"/>
          </a:p>
        </p:txBody>
      </p:sp>
      <p:sp>
        <p:nvSpPr>
          <p:cNvPr id="70" name="Text 68"/>
          <p:cNvSpPr/>
          <p:nvPr/>
        </p:nvSpPr>
        <p:spPr>
          <a:xfrm>
            <a:off x="9251899" y="4535424"/>
            <a:ext cx="256032" cy="603504"/>
          </a:xfrm>
          <a:prstGeom prst="rect">
            <a:avLst/>
          </a:prstGeom>
          <a:noFill/>
          <a:ln/>
        </p:spPr>
        <p:txBody>
          <a:bodyPr wrap="square" lIns="0" tIns="0" rIns="0" bIns="0" rtlCol="0" anchor="ctr"/>
          <a:lstStyle/>
          <a:p>
            <a:pPr algn="ctr" indent="0" marL="0">
              <a:buNone/>
            </a:pPr>
            <a:r>
              <a:rPr lang="en-US" sz="1400" b="1" dirty="0">
                <a:solidFill>
                  <a:srgbClr val="A6714A"/>
                </a:solidFill>
              </a:rPr>
              <a:t>→</a:t>
            </a:r>
            <a:endParaRPr lang="en-US" sz="1400" dirty="0"/>
          </a:p>
        </p:txBody>
      </p:sp>
      <p:sp>
        <p:nvSpPr>
          <p:cNvPr id="71" name="Shape 69"/>
          <p:cNvSpPr/>
          <p:nvPr/>
        </p:nvSpPr>
        <p:spPr>
          <a:xfrm>
            <a:off x="9507931" y="4535424"/>
            <a:ext cx="1583741" cy="603504"/>
          </a:xfrm>
          <a:prstGeom prst="roundRect">
            <a:avLst>
              <a:gd name="adj" fmla="val 9091"/>
            </a:avLst>
          </a:prstGeom>
          <a:solidFill>
            <a:srgbClr val="F4EFE7"/>
          </a:solidFill>
          <a:ln w="12700">
            <a:solidFill>
              <a:srgbClr val="A6714A"/>
            </a:solidFill>
            <a:prstDash val="solid"/>
          </a:ln>
        </p:spPr>
      </p:sp>
      <p:sp>
        <p:nvSpPr>
          <p:cNvPr id="72" name="Text 70"/>
          <p:cNvSpPr/>
          <p:nvPr/>
        </p:nvSpPr>
        <p:spPr>
          <a:xfrm>
            <a:off x="9507931" y="4572000"/>
            <a:ext cx="1583741" cy="237744"/>
          </a:xfrm>
          <a:prstGeom prst="rect">
            <a:avLst/>
          </a:prstGeom>
          <a:noFill/>
          <a:ln/>
        </p:spPr>
        <p:txBody>
          <a:bodyPr wrap="square" lIns="0" tIns="0" rIns="0" bIns="0" rtlCol="0" anchor="ctr"/>
          <a:lstStyle/>
          <a:p>
            <a:pPr algn="ctr" indent="0" marL="0">
              <a:buNone/>
            </a:pPr>
            <a:r>
              <a:rPr lang="en-US" sz="1200" b="1" dirty="0">
                <a:solidFill>
                  <a:srgbClr val="5E3A24"/>
                </a:solidFill>
              </a:rPr>
              <a:t>M5</a:t>
            </a:r>
            <a:endParaRPr lang="en-US" sz="1200" dirty="0"/>
          </a:p>
        </p:txBody>
      </p:sp>
      <p:sp>
        <p:nvSpPr>
          <p:cNvPr id="73" name="Text 71"/>
          <p:cNvSpPr/>
          <p:nvPr/>
        </p:nvSpPr>
        <p:spPr>
          <a:xfrm>
            <a:off x="9553651" y="4791456"/>
            <a:ext cx="1492301" cy="329184"/>
          </a:xfrm>
          <a:prstGeom prst="rect">
            <a:avLst/>
          </a:prstGeom>
          <a:noFill/>
          <a:ln/>
        </p:spPr>
        <p:txBody>
          <a:bodyPr wrap="square" lIns="0" tIns="0" rIns="0" bIns="0" rtlCol="0" anchor="t"/>
          <a:lstStyle/>
          <a:p>
            <a:pPr algn="ctr" indent="0" marL="0">
              <a:lnSpc>
                <a:spcPct val="95000"/>
              </a:lnSpc>
              <a:buNone/>
            </a:pPr>
            <a:r>
              <a:rPr lang="en-US" sz="740" dirty="0">
                <a:solidFill>
                  <a:srgbClr val="1A1A1A"/>
                </a:solidFill>
              </a:rPr>
              <a:t>final adaptive attempt</a:t>
            </a:r>
            <a:endParaRPr lang="en-US" sz="740" dirty="0"/>
          </a:p>
        </p:txBody>
      </p:sp>
      <p:sp>
        <p:nvSpPr>
          <p:cNvPr id="74" name="Text 72"/>
          <p:cNvSpPr/>
          <p:nvPr/>
        </p:nvSpPr>
        <p:spPr>
          <a:xfrm>
            <a:off x="2148840" y="5212080"/>
            <a:ext cx="8961120" cy="237744"/>
          </a:xfrm>
          <a:prstGeom prst="rect">
            <a:avLst/>
          </a:prstGeom>
          <a:noFill/>
          <a:ln/>
        </p:spPr>
        <p:txBody>
          <a:bodyPr wrap="square" lIns="0" tIns="0" rIns="0" bIns="0" rtlCol="0" anchor="ctr"/>
          <a:lstStyle/>
          <a:p>
            <a:pPr indent="0" marL="0">
              <a:buNone/>
            </a:pPr>
            <a:r>
              <a:rPr lang="en-US" sz="950" dirty="0">
                <a:solidFill>
                  <a:srgbClr val="5E3A24"/>
                </a:solidFill>
                <a:latin typeface="Calibri" pitchFamily="34" charset="0"/>
                <a:ea typeface="Calibri" pitchFamily="34" charset="-122"/>
                <a:cs typeface="Calibri" pitchFamily="34" charset="-120"/>
              </a:rPr>
              <a:t xml:space="preserve">⏹  </a:t>
            </a:r>
            <a:pPr indent="0" marL="0">
              <a:buNone/>
            </a:pPr>
            <a:r>
              <a:rPr lang="en-US" sz="950" b="1" dirty="0">
                <a:solidFill>
                  <a:srgbClr val="5E3A24"/>
                </a:solidFill>
                <a:latin typeface="Calibri" pitchFamily="34" charset="0"/>
                <a:ea typeface="Calibri" pitchFamily="34" charset="-122"/>
                <a:cs typeface="Calibri" pitchFamily="34" charset="-120"/>
              </a:rPr>
              <a:t>Stops at the first payload that advances</a:t>
            </a:r>
            <a:pPr indent="0" marL="0">
              <a:buNone/>
            </a:pPr>
            <a:r>
              <a:rPr lang="en-US" sz="950" i="1" dirty="0">
                <a:solidFill>
                  <a:srgbClr val="6B5D4F"/>
                </a:solidFill>
                <a:latin typeface="Calibri" pitchFamily="34" charset="0"/>
                <a:ea typeface="Calibri" pitchFamily="34" charset="-122"/>
                <a:cs typeface="Calibri" pitchFamily="34" charset="-120"/>
              </a:rPr>
              <a:t xml:space="preserve">  (up to 5 mutations per class).</a:t>
            </a:r>
            <a:endParaRPr lang="en-US" sz="950" dirty="0"/>
          </a:p>
        </p:txBody>
      </p:sp>
      <p:sp>
        <p:nvSpPr>
          <p:cNvPr id="75" name="Shape 73"/>
          <p:cNvSpPr/>
          <p:nvPr/>
        </p:nvSpPr>
        <p:spPr>
          <a:xfrm>
            <a:off x="457200" y="5440680"/>
            <a:ext cx="11274552" cy="914400"/>
          </a:xfrm>
          <a:prstGeom prst="rect">
            <a:avLst/>
          </a:prstGeom>
          <a:solidFill>
            <a:srgbClr val="1E1E1E"/>
          </a:solidFill>
          <a:ln w="12700">
            <a:solidFill>
              <a:srgbClr val="333333"/>
            </a:solidFill>
            <a:prstDash val="solid"/>
          </a:ln>
        </p:spPr>
      </p:sp>
      <p:sp>
        <p:nvSpPr>
          <p:cNvPr id="76" name="Shape 74"/>
          <p:cNvSpPr/>
          <p:nvPr/>
        </p:nvSpPr>
        <p:spPr>
          <a:xfrm>
            <a:off x="457200" y="5440680"/>
            <a:ext cx="82296" cy="914400"/>
          </a:xfrm>
          <a:prstGeom prst="rect">
            <a:avLst/>
          </a:prstGeom>
          <a:solidFill>
            <a:srgbClr val="8F5A39"/>
          </a:solidFill>
          <a:ln w="12700">
            <a:solidFill>
              <a:srgbClr val="333333"/>
            </a:solidFill>
            <a:prstDash val="solid"/>
          </a:ln>
        </p:spPr>
      </p:sp>
      <p:sp>
        <p:nvSpPr>
          <p:cNvPr id="77" name="Text 75"/>
          <p:cNvSpPr/>
          <p:nvPr/>
        </p:nvSpPr>
        <p:spPr>
          <a:xfrm>
            <a:off x="685800" y="5550408"/>
            <a:ext cx="1463040" cy="219456"/>
          </a:xfrm>
          <a:prstGeom prst="rect">
            <a:avLst/>
          </a:prstGeom>
          <a:noFill/>
          <a:ln/>
        </p:spPr>
        <p:txBody>
          <a:bodyPr wrap="square" lIns="0" tIns="0" rIns="0" bIns="0" rtlCol="0" anchor="ctr"/>
          <a:lstStyle/>
          <a:p>
            <a:pPr indent="0" marL="0">
              <a:buNone/>
            </a:pPr>
            <a:r>
              <a:rPr lang="en-US" sz="950" b="1" spc="200" kern="0" dirty="0">
                <a:solidFill>
                  <a:srgbClr val="A6D7F0"/>
                </a:solidFill>
                <a:latin typeface="Calibri" pitchFamily="34" charset="0"/>
                <a:ea typeface="Calibri" pitchFamily="34" charset="-122"/>
                <a:cs typeface="Calibri" pitchFamily="34" charset="-120"/>
              </a:rPr>
              <a:t>OUTPUT</a:t>
            </a:r>
            <a:endParaRPr lang="en-US" sz="950" dirty="0"/>
          </a:p>
        </p:txBody>
      </p:sp>
      <p:sp>
        <p:nvSpPr>
          <p:cNvPr id="78" name="Text 76"/>
          <p:cNvSpPr/>
          <p:nvPr/>
        </p:nvSpPr>
        <p:spPr>
          <a:xfrm>
            <a:off x="685800" y="5769864"/>
            <a:ext cx="10789920" cy="274320"/>
          </a:xfrm>
          <a:prstGeom prst="rect">
            <a:avLst/>
          </a:prstGeom>
          <a:noFill/>
          <a:ln/>
        </p:spPr>
        <p:txBody>
          <a:bodyPr wrap="square" lIns="0" tIns="0" rIns="0" bIns="0" rtlCol="0" anchor="ctr"/>
          <a:lstStyle/>
          <a:p>
            <a:pPr indent="0" marL="0">
              <a:buNone/>
            </a:pPr>
            <a:r>
              <a:rPr lang="en-US" sz="1200" b="1" dirty="0">
                <a:solidFill>
                  <a:srgbClr val="4EC9B0"/>
                </a:solidFill>
                <a:latin typeface="Consolas" pitchFamily="34" charset="0"/>
                <a:ea typeface="Consolas" pitchFamily="34" charset="-122"/>
                <a:cs typeface="Consolas" pitchFamily="34" charset="-120"/>
              </a:rPr>
              <a:t>agent-emulation.json</a:t>
            </a:r>
            <a:pPr indent="0" marL="0">
              <a:buNone/>
            </a:pPr>
            <a:r>
              <a:rPr lang="en-US" sz="1200" dirty="0">
                <a:solidFill>
                  <a:srgbClr val="D4D4D4"/>
                </a:solidFill>
                <a:latin typeface="Calibri" pitchFamily="34" charset="0"/>
                <a:ea typeface="Calibri" pitchFamily="34" charset="-122"/>
                <a:cs typeface="Calibri" pitchFamily="34" charset="-120"/>
              </a:rPr>
              <a:t xml:space="preserve">  —  entry_points[] with per-source verdict chips, </a:t>
            </a:r>
            <a:pPr indent="0" marL="0">
              <a:buNone/>
            </a:pPr>
            <a:r>
              <a:rPr lang="en-US" sz="1200" dirty="0">
                <a:solidFill>
                  <a:srgbClr val="569CD6"/>
                </a:solidFill>
                <a:latin typeface="Consolas" pitchFamily="34" charset="0"/>
                <a:ea typeface="Consolas" pitchFamily="34" charset="-122"/>
                <a:cs typeface="Consolas" pitchFamily="34" charset="-120"/>
              </a:rPr>
              <a:t>pipeline_map</a:t>
            </a:r>
            <a:pPr indent="0" marL="0">
              <a:buNone/>
            </a:pPr>
            <a:r>
              <a:rPr lang="en-US" sz="1200" dirty="0">
                <a:solidFill>
                  <a:srgbClr val="D4D4D4"/>
                </a:solidFill>
                <a:latin typeface="Calibri" pitchFamily="34" charset="0"/>
                <a:ea typeface="Calibri" pitchFamily="34" charset="-122"/>
                <a:cs typeface="Calibri" pitchFamily="34" charset="-120"/>
              </a:rPr>
              <a:t xml:space="preserve"> with file:line citations, seed + mutation traces</a:t>
            </a:r>
            <a:endParaRPr lang="en-US" sz="1200" dirty="0"/>
          </a:p>
        </p:txBody>
      </p:sp>
      <p:sp>
        <p:nvSpPr>
          <p:cNvPr id="79" name="Text 77"/>
          <p:cNvSpPr/>
          <p:nvPr/>
        </p:nvSpPr>
        <p:spPr>
          <a:xfrm>
            <a:off x="685800" y="6044184"/>
            <a:ext cx="777240" cy="237744"/>
          </a:xfrm>
          <a:prstGeom prst="rect">
            <a:avLst/>
          </a:prstGeom>
          <a:noFill/>
          <a:ln/>
        </p:spPr>
        <p:txBody>
          <a:bodyPr wrap="square" lIns="0" tIns="0" rIns="0" bIns="0" rtlCol="0" anchor="ctr"/>
          <a:lstStyle/>
          <a:p>
            <a:pPr indent="0" marL="0">
              <a:buNone/>
            </a:pPr>
            <a:r>
              <a:rPr lang="en-US" sz="950" i="1" dirty="0">
                <a:solidFill>
                  <a:srgbClr val="9D9D9D"/>
                </a:solidFill>
                <a:latin typeface="Calibri" pitchFamily="34" charset="0"/>
                <a:ea typeface="Calibri" pitchFamily="34" charset="-122"/>
                <a:cs typeface="Calibri" pitchFamily="34" charset="-120"/>
              </a:rPr>
              <a:t>verdicts:</a:t>
            </a:r>
            <a:endParaRPr lang="en-US" sz="950" dirty="0"/>
          </a:p>
        </p:txBody>
      </p:sp>
      <p:sp>
        <p:nvSpPr>
          <p:cNvPr id="80" name="Shape 78"/>
          <p:cNvSpPr/>
          <p:nvPr/>
        </p:nvSpPr>
        <p:spPr>
          <a:xfrm>
            <a:off x="1508760" y="6044184"/>
            <a:ext cx="585216" cy="237744"/>
          </a:xfrm>
          <a:prstGeom prst="roundRect">
            <a:avLst>
              <a:gd name="adj" fmla="val 15385"/>
            </a:avLst>
          </a:prstGeom>
          <a:solidFill>
            <a:srgbClr val="2A2A2A"/>
          </a:solidFill>
          <a:ln w="9525">
            <a:solidFill>
              <a:srgbClr val="4EC9B0"/>
            </a:solidFill>
            <a:prstDash val="solid"/>
          </a:ln>
        </p:spPr>
      </p:sp>
      <p:sp>
        <p:nvSpPr>
          <p:cNvPr id="81" name="Text 79"/>
          <p:cNvSpPr/>
          <p:nvPr/>
        </p:nvSpPr>
        <p:spPr>
          <a:xfrm>
            <a:off x="1508760" y="6044184"/>
            <a:ext cx="585216" cy="237744"/>
          </a:xfrm>
          <a:prstGeom prst="rect">
            <a:avLst/>
          </a:prstGeom>
          <a:noFill/>
          <a:ln/>
        </p:spPr>
        <p:txBody>
          <a:bodyPr wrap="square" lIns="0" tIns="0" rIns="0" bIns="0" rtlCol="0" anchor="ctr"/>
          <a:lstStyle/>
          <a:p>
            <a:pPr algn="ctr" indent="0" marL="0">
              <a:buNone/>
            </a:pPr>
            <a:r>
              <a:rPr lang="en-US" sz="950" dirty="0">
                <a:solidFill>
                  <a:srgbClr val="4EC9B0"/>
                </a:solidFill>
                <a:latin typeface="Consolas" pitchFamily="34" charset="0"/>
                <a:ea typeface="Consolas" pitchFamily="34" charset="-122"/>
                <a:cs typeface="Consolas" pitchFamily="34" charset="-120"/>
              </a:rPr>
              <a:t>lands</a:t>
            </a:r>
            <a:endParaRPr lang="en-US" sz="950" dirty="0"/>
          </a:p>
        </p:txBody>
      </p:sp>
      <p:sp>
        <p:nvSpPr>
          <p:cNvPr id="82" name="Shape 80"/>
          <p:cNvSpPr/>
          <p:nvPr/>
        </p:nvSpPr>
        <p:spPr>
          <a:xfrm>
            <a:off x="2258568" y="6044184"/>
            <a:ext cx="753466" cy="237744"/>
          </a:xfrm>
          <a:prstGeom prst="roundRect">
            <a:avLst>
              <a:gd name="adj" fmla="val 15385"/>
            </a:avLst>
          </a:prstGeom>
          <a:solidFill>
            <a:srgbClr val="2A2A2A"/>
          </a:solidFill>
          <a:ln w="9525">
            <a:solidFill>
              <a:srgbClr val="DCDCAA"/>
            </a:solidFill>
            <a:prstDash val="solid"/>
          </a:ln>
        </p:spPr>
      </p:sp>
      <p:sp>
        <p:nvSpPr>
          <p:cNvPr id="83" name="Text 81"/>
          <p:cNvSpPr/>
          <p:nvPr/>
        </p:nvSpPr>
        <p:spPr>
          <a:xfrm>
            <a:off x="2258568" y="6044184"/>
            <a:ext cx="753466" cy="237744"/>
          </a:xfrm>
          <a:prstGeom prst="rect">
            <a:avLst/>
          </a:prstGeom>
          <a:noFill/>
          <a:ln/>
        </p:spPr>
        <p:txBody>
          <a:bodyPr wrap="square" lIns="0" tIns="0" rIns="0" bIns="0" rtlCol="0" anchor="ctr"/>
          <a:lstStyle/>
          <a:p>
            <a:pPr algn="ctr" indent="0" marL="0">
              <a:buNone/>
            </a:pPr>
            <a:r>
              <a:rPr lang="en-US" sz="950" dirty="0">
                <a:solidFill>
                  <a:srgbClr val="DCDCAA"/>
                </a:solidFill>
                <a:latin typeface="Consolas" pitchFamily="34" charset="0"/>
                <a:ea typeface="Consolas" pitchFamily="34" charset="-122"/>
                <a:cs typeface="Consolas" pitchFamily="34" charset="-120"/>
              </a:rPr>
              <a:t>partial</a:t>
            </a:r>
            <a:endParaRPr lang="en-US" sz="950" dirty="0"/>
          </a:p>
        </p:txBody>
      </p:sp>
      <p:sp>
        <p:nvSpPr>
          <p:cNvPr id="84" name="Shape 82"/>
          <p:cNvSpPr/>
          <p:nvPr/>
        </p:nvSpPr>
        <p:spPr>
          <a:xfrm>
            <a:off x="3176626" y="6044184"/>
            <a:ext cx="753466" cy="237744"/>
          </a:xfrm>
          <a:prstGeom prst="roundRect">
            <a:avLst>
              <a:gd name="adj" fmla="val 15385"/>
            </a:avLst>
          </a:prstGeom>
          <a:solidFill>
            <a:srgbClr val="2A2A2A"/>
          </a:solidFill>
          <a:ln w="9525">
            <a:solidFill>
              <a:srgbClr val="569CD6"/>
            </a:solidFill>
            <a:prstDash val="solid"/>
          </a:ln>
        </p:spPr>
      </p:sp>
      <p:sp>
        <p:nvSpPr>
          <p:cNvPr id="85" name="Text 83"/>
          <p:cNvSpPr/>
          <p:nvPr/>
        </p:nvSpPr>
        <p:spPr>
          <a:xfrm>
            <a:off x="3176626" y="6044184"/>
            <a:ext cx="753466" cy="237744"/>
          </a:xfrm>
          <a:prstGeom prst="rect">
            <a:avLst/>
          </a:prstGeom>
          <a:noFill/>
          <a:ln/>
        </p:spPr>
        <p:txBody>
          <a:bodyPr wrap="square" lIns="0" tIns="0" rIns="0" bIns="0" rtlCol="0" anchor="ctr"/>
          <a:lstStyle/>
          <a:p>
            <a:pPr algn="ctr" indent="0" marL="0">
              <a:buNone/>
            </a:pPr>
            <a:r>
              <a:rPr lang="en-US" sz="950" dirty="0">
                <a:solidFill>
                  <a:srgbClr val="569CD6"/>
                </a:solidFill>
                <a:latin typeface="Consolas" pitchFamily="34" charset="0"/>
                <a:ea typeface="Consolas" pitchFamily="34" charset="-122"/>
                <a:cs typeface="Consolas" pitchFamily="34" charset="-120"/>
              </a:rPr>
              <a:t>blocked</a:t>
            </a:r>
            <a:endParaRPr lang="en-US" sz="950" dirty="0"/>
          </a:p>
        </p:txBody>
      </p:sp>
      <p:sp>
        <p:nvSpPr>
          <p:cNvPr id="86" name="Shape 84"/>
          <p:cNvSpPr/>
          <p:nvPr/>
        </p:nvSpPr>
        <p:spPr>
          <a:xfrm>
            <a:off x="4094683" y="6044184"/>
            <a:ext cx="1174090" cy="237744"/>
          </a:xfrm>
          <a:prstGeom prst="roundRect">
            <a:avLst>
              <a:gd name="adj" fmla="val 15385"/>
            </a:avLst>
          </a:prstGeom>
          <a:solidFill>
            <a:srgbClr val="2A2A2A"/>
          </a:solidFill>
          <a:ln w="9525">
            <a:solidFill>
              <a:srgbClr val="9D9D9D"/>
            </a:solidFill>
            <a:prstDash val="solid"/>
          </a:ln>
        </p:spPr>
      </p:sp>
      <p:sp>
        <p:nvSpPr>
          <p:cNvPr id="87" name="Text 85"/>
          <p:cNvSpPr/>
          <p:nvPr/>
        </p:nvSpPr>
        <p:spPr>
          <a:xfrm>
            <a:off x="4094683" y="6044184"/>
            <a:ext cx="1174090" cy="237744"/>
          </a:xfrm>
          <a:prstGeom prst="rect">
            <a:avLst/>
          </a:prstGeom>
          <a:noFill/>
          <a:ln/>
        </p:spPr>
        <p:txBody>
          <a:bodyPr wrap="square" lIns="0" tIns="0" rIns="0" bIns="0" rtlCol="0" anchor="ctr"/>
          <a:lstStyle/>
          <a:p>
            <a:pPr algn="ctr" indent="0" marL="0">
              <a:buNone/>
            </a:pPr>
            <a:r>
              <a:rPr lang="en-US" sz="950" dirty="0">
                <a:solidFill>
                  <a:srgbClr val="9D9D9D"/>
                </a:solidFill>
                <a:latin typeface="Consolas" pitchFamily="34" charset="0"/>
                <a:ea typeface="Consolas" pitchFamily="34" charset="-122"/>
                <a:cs typeface="Consolas" pitchFamily="34" charset="-120"/>
              </a:rPr>
              <a:t>inconclusive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2026-05-27T16:21:58Z</dcterms:created>
  <dcterms:modified xsi:type="dcterms:W3CDTF">2026-05-27T16:21:58Z</dcterms:modified>
</cp:coreProperties>
</file>